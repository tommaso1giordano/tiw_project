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 b="def" i="def"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1D1"/>
          </a:solidFill>
        </a:fill>
      </a:tcStyle>
    </a:wholeTbl>
    <a:band2H>
      <a:tcTxStyle b="def" i="def"/>
      <a:tcStyle>
        <a:tcBdr/>
        <a:fill>
          <a:solidFill>
            <a:srgbClr val="E9E9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5" cy="4648202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2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7690" y="1106137"/>
            <a:ext cx="21968621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Author and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Body Level One…"/>
          <p:cNvSpPr txBox="1"/>
          <p:nvPr>
            <p:ph type="body" sz="quarter" idx="22" hasCustomPrompt="1"/>
          </p:nvPr>
        </p:nvSpPr>
        <p:spPr>
          <a:xfrm>
            <a:off x="1206500" y="11609909"/>
            <a:ext cx="21971000" cy="111695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Presentation Subtitle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9779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1" name="Body Level One…"/>
          <p:cNvSpPr txBox="1"/>
          <p:nvPr>
            <p:ph type="body" sz="half" idx="21" hasCustomPrompt="1"/>
          </p:nvPr>
        </p:nvSpPr>
        <p:spPr>
          <a:xfrm>
            <a:off x="1206500" y="4248503"/>
            <a:ext cx="9779000" cy="8256631"/>
          </a:xfrm>
          <a:prstGeom prst="rect">
            <a:avLst/>
          </a:prstGeom>
        </p:spPr>
        <p:txBody>
          <a:bodyPr numCol="1" spcCol="38100"/>
          <a:lstStyle/>
          <a:p>
            <a:pPr/>
            <a:r>
              <a:t>Slide bullet text</a:t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5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Body Level One…"/>
          <p:cNvSpPr txBox="1"/>
          <p:nvPr>
            <p:ph type="body" sz="quarter" idx="1" hasCustomPrompt="1"/>
          </p:nvPr>
        </p:nvSpPr>
        <p:spPr>
          <a:xfrm>
            <a:off x="1206500" y="2372961"/>
            <a:ext cx="21971000" cy="9347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b="1" sz="5500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b="1" sz="5500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b="1" sz="5500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b="1" sz="5500"/>
            </a:lvl5pPr>
          </a:lstStyle>
          <a:p>
            <a:pPr/>
            <a:r>
              <a:t>Agenda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0" name="Body Level One…"/>
          <p:cNvSpPr txBox="1"/>
          <p:nvPr>
            <p:ph type="body" idx="21" hasCustomPrompt="1"/>
          </p:nvPr>
        </p:nvSpPr>
        <p:spPr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99" sz="5500"/>
            </a:lvl1pPr>
          </a:lstStyle>
          <a:p>
            <a:pPr/>
            <a:r>
              <a:t>Agenda Topics</a:t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6"/>
            <a:ext cx="21971000" cy="7241586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Body Level One…"/>
          <p:cNvSpPr txBox="1"/>
          <p:nvPr>
            <p:ph type="body" sz="quarter" idx="1" hasCustomPrompt="1"/>
          </p:nvPr>
        </p:nvSpPr>
        <p:spPr>
          <a:xfrm>
            <a:off x="2430024" y="10675453"/>
            <a:ext cx="20200054" cy="6369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b="1" sz="3600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b="1" sz="3600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b="1" sz="3600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b="1" sz="3600"/>
            </a:lvl5pPr>
          </a:lstStyle>
          <a:p>
            <a:pPr/>
            <a:r>
              <a:t>Attribution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6" name="Body Level One…"/>
          <p:cNvSpPr txBox="1"/>
          <p:nvPr>
            <p:ph type="body" sz="half" idx="21" hasCustomPrompt="1"/>
          </p:nvPr>
        </p:nvSpPr>
        <p:spPr>
          <a:xfrm>
            <a:off x="1753923" y="4939860"/>
            <a:ext cx="20876154" cy="3836281"/>
          </a:xfrm>
          <a:prstGeom prst="rect">
            <a:avLst/>
          </a:prstGeom>
        </p:spPr>
        <p:txBody>
          <a:bodyPr numCol="1" spcCol="38100"/>
          <a:lstStyle>
            <a:lvl1pPr marL="469900" indent="-300876">
              <a:spcBef>
                <a:spcPts val="0"/>
              </a:spcBef>
              <a:buSzTx/>
              <a:buNone/>
              <a:defRPr spc="-20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“Notable Quote”</a:t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2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/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9855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tif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ommaso Giordano - Luca Olivieri"/>
          <p:cNvSpPr txBox="1"/>
          <p:nvPr>
            <p:ph type="body" sz="quarter" idx="1"/>
          </p:nvPr>
        </p:nvSpPr>
        <p:spPr>
          <a:xfrm>
            <a:off x="1201341" y="11859862"/>
            <a:ext cx="21971002" cy="63698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Tommaso Giordano - Luca Olivieri</a:t>
            </a:r>
          </a:p>
        </p:txBody>
      </p:sp>
      <p:sp>
        <p:nvSpPr>
          <p:cNvPr id="152" name="Verbalizzazione degli esami"/>
          <p:cNvSpPr txBox="1"/>
          <p:nvPr>
            <p:ph type="title"/>
          </p:nvPr>
        </p:nvSpPr>
        <p:spPr>
          <a:xfrm>
            <a:off x="1206495" y="2574991"/>
            <a:ext cx="21971006" cy="4648202"/>
          </a:xfrm>
          <a:prstGeom prst="rect">
            <a:avLst/>
          </a:prstGeom>
        </p:spPr>
        <p:txBody>
          <a:bodyPr anchor="ctr"/>
          <a:lstStyle>
            <a:lvl1pPr algn="ctr">
              <a:defRPr spc="-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Verbalizzazione degli esami</a:t>
            </a:r>
          </a:p>
        </p:txBody>
      </p:sp>
      <p:sp>
        <p:nvSpPr>
          <p:cNvPr id="153" name="Web Technologies"/>
          <p:cNvSpPr txBox="1"/>
          <p:nvPr/>
        </p:nvSpPr>
        <p:spPr>
          <a:xfrm>
            <a:off x="1206500" y="8950428"/>
            <a:ext cx="21971000" cy="190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defTabSz="825500">
              <a:defRPr b="1" sz="55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Web Technologies</a:t>
            </a:r>
          </a:p>
        </p:txBody>
      </p:sp>
      <p:sp>
        <p:nvSpPr>
          <p:cNvPr id="154" name="HTML pure version"/>
          <p:cNvSpPr txBox="1"/>
          <p:nvPr/>
        </p:nvSpPr>
        <p:spPr>
          <a:xfrm>
            <a:off x="1206500" y="6707747"/>
            <a:ext cx="21971000" cy="1905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defTabSz="825500">
              <a:defRPr b="1" sz="7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HTML pure version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pecifications -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Specifications - 1</a:t>
            </a:r>
          </a:p>
        </p:txBody>
      </p:sp>
      <p:sp>
        <p:nvSpPr>
          <p:cNvPr id="157" name="Un’applicazione permette di verbalizzare gli esiti degli esami di un appello. Il docente accede tramite login e seleziona nella HOME page un corso da una lista dei propri corsi ordinata in modo alfabetico decrescente e poi una data d’appello del corso sc"/>
          <p:cNvSpPr txBox="1"/>
          <p:nvPr>
            <p:ph type="body" idx="1"/>
          </p:nvPr>
        </p:nvSpPr>
        <p:spPr>
          <a:xfrm>
            <a:off x="1206500" y="2873811"/>
            <a:ext cx="21971000" cy="9268497"/>
          </a:xfrm>
          <a:prstGeom prst="rect">
            <a:avLst/>
          </a:prstGeom>
        </p:spPr>
        <p:txBody>
          <a:bodyPr lIns="50800" tIns="50800" rIns="50800" bIns="50800" anchor="ctr"/>
          <a:lstStyle>
            <a:lvl1pPr algn="just" defTabSz="457200">
              <a:lnSpc>
                <a:spcPct val="110000"/>
              </a:lnSpc>
              <a:spcBef>
                <a:spcPts val="1200"/>
              </a:spcBef>
              <a:defRPr b="0" sz="3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Un’applicazione permette di verbalizzare gli esiti degli esami di un appello. Il docente accede tramite login e seleziona nella HOME page un corso da una lista dei propri corsi ordinata in modo alfabetico decrescente e poi una data d’appello del corso scelto selezionata da un elenco ordinato per data decrescente. Ogni corso ha un solo docente. La selezione dell’appello porta a una pagina ISCRITTI, che mostra una tabella con tutti gli iscritti all’appello. La tabella riporta i seguenti dati: matricola, cognome e nome, email, corso di laurea, voto e stato di valutazione. Il voto può non essere ancora definito. Lo stato di valutazione dello studente rispetto all’appello può assumere i valori: non inserito, inserito, pubblicato, rifiutato e verbalizzato. Selezionando un’etichetta nell’intestazione della tabella, l’utente ordina le righe in base al valore di tale etichetta (ad esempio, selezionando “cognome” la tabella è riordinata in base al cognome). Successive selezioni della stessa etichetta invertono l’ordinamento: si parte con l’ordinamento crescente. Il valore del voto viene considerato ordinato nel modo seguente: &lt;vuoto&gt;, assente, rimandato, riprovato, 18, 19, ..., 30, 30 e lode. Nella tabella della pagina ISCRITTI ad ogni riga corrisponde un bottone “MODIFICA”. Premendo il bottone compare una pagina con una form che mostra tutti i dati dello studente selezionato e un campo di input in cui è possibile scegliere il voto. L’invio della form provoca la modifica o l’inserimento del voto. Inizialmente le righe sono nello stato di valutazione “non inserito”. L’inserimento e le successive eventuali modifiche portano la riga nello stato di valutazione “inserito”. Alla tabella della pagina ISCRITTI è associato un bottone PUBBLICA che comporta la pubblicazione delle righe con lo stato di valutazione INSERITO.</a:t>
            </a:r>
          </a:p>
        </p:txBody>
      </p:sp>
      <p:sp>
        <p:nvSpPr>
          <p:cNvPr id="158" name="Slide Number"/>
          <p:cNvSpPr txBox="1"/>
          <p:nvPr>
            <p:ph type="sldNum" sz="quarter" idx="4294967295"/>
          </p:nvPr>
        </p:nvSpPr>
        <p:spPr>
          <a:xfrm>
            <a:off x="12065033" y="13074597"/>
            <a:ext cx="241437" cy="381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pecifications -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Specifications - 2</a:t>
            </a:r>
          </a:p>
        </p:txBody>
      </p:sp>
      <p:sp>
        <p:nvSpPr>
          <p:cNvPr id="161" name="La pubblicazione rende il voto non più modificabile dal docente e visibile allo studente e cambia lo stato di valutazione della riga dello studente a “pubblicato”. Lo studente accede tramite login e seleziona nella HOME page un corso tra quelli a cui è i"/>
          <p:cNvSpPr txBox="1"/>
          <p:nvPr>
            <p:ph type="body" idx="1"/>
          </p:nvPr>
        </p:nvSpPr>
        <p:spPr>
          <a:xfrm>
            <a:off x="1206500" y="2873811"/>
            <a:ext cx="21971000" cy="9268497"/>
          </a:xfrm>
          <a:prstGeom prst="rect">
            <a:avLst/>
          </a:prstGeom>
        </p:spPr>
        <p:txBody>
          <a:bodyPr lIns="50800" tIns="50800" rIns="50800" bIns="50800" anchor="ctr"/>
          <a:lstStyle>
            <a:lvl1pPr algn="just" defTabSz="457200">
              <a:lnSpc>
                <a:spcPct val="110000"/>
              </a:lnSpc>
              <a:spcBef>
                <a:spcPts val="1200"/>
              </a:spcBef>
              <a:defRPr b="0" sz="33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La pubblicazione rende il voto non più modificabile dal docente e visibile allo studente e cambia lo stato di valutazione della riga dello studente a “pubblicato”. Lo studente accede tramite login e seleziona nella HOME page un corso tra quelli a cui è iscritto mediante una lista ordinata in modo alfabetico decrescente e poi una data d’appello del corso scelto selezionata da un elenco ordinato per data decrescente. Uno studente può essere iscritto a più appelli dello stesso corso. La selezione della data d’appello porta a una pagina ESITO che mostra il messaggio “Voto non ancora definito” se il docente non ha ancora pubblicato il risultato per quello studente in quell’appello. Altrimenti, la pagina mostra i dati dello studente, del corso, dell’appello e il voto assegnato. Se il voto è tra 18 e 30 e lode compare un bottone RIFIUTA. Premendo tale bottone la pagina mostra gli stessi dati con la dizione aggiunta “Il voto è stato rifiutato” e senza il bottone RIFIUTA. Il rifiuto del voto cambia lo stato di valutazione a “rifiutato” della riga dello studente per quell’appello nella pagina ISCRITTI del docente. Nella pagina ISCRITTI del docente la tabella degli iscritti è associata anche a un bottone VERBALIZZA. La pressione del bottone provoca il cambio di stato a “verbalizzato” per le righe nello stato “pubblicato” o "rifiutato" e comporta anche la creazione di un verbale e la disabilitazione della possibilità di rifiutare il voto. Il rifiuto implica la verbalizzazione di “rimandato” come voto. Un verbale ha un codice generato dal sistema, una data e ora di creazione ed è associato all’appello del corso a cui si riferisce e agli studenti (con nome, cognome, matricola e voto) che passano allo stato “verbalizzato”. A seguito della pressione del bottone VERBALIZZA compare una pagina VERBALE che mostra i dati completi del verbale creato.</a:t>
            </a:r>
          </a:p>
        </p:txBody>
      </p:sp>
      <p:sp>
        <p:nvSpPr>
          <p:cNvPr id="162" name="Slide Number"/>
          <p:cNvSpPr txBox="1"/>
          <p:nvPr>
            <p:ph type="sldNum" sz="quarter" idx="4294967295"/>
          </p:nvPr>
        </p:nvSpPr>
        <p:spPr>
          <a:xfrm>
            <a:off x="12065033" y="13074597"/>
            <a:ext cx="241437" cy="381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Database analysis of specs -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pc="-200" sz="8400">
                <a:latin typeface="+mn-lt"/>
                <a:ea typeface="+mn-ea"/>
                <a:cs typeface="+mn-cs"/>
                <a:sym typeface="Helvetica"/>
              </a:defRPr>
            </a:pPr>
            <a:r>
              <a:t>Database analysis of specs</a:t>
            </a:r>
            <a:r>
              <a:rPr sz="8500"/>
              <a:t> - 1</a:t>
            </a:r>
          </a:p>
        </p:txBody>
      </p:sp>
      <p:sp>
        <p:nvSpPr>
          <p:cNvPr id="165" name="Un’applicazione permette di verbalizzare gli esiti degli esami di un appello. Il docente accede tramite login e seleziona nella HOME page un corso da una lista dei propri corsi ordinata in modo alfabetico decrescente e poi una data d’appello del corso sc"/>
          <p:cNvSpPr txBox="1"/>
          <p:nvPr>
            <p:ph type="body" idx="1"/>
          </p:nvPr>
        </p:nvSpPr>
        <p:spPr>
          <a:xfrm>
            <a:off x="1206500" y="3324050"/>
            <a:ext cx="21971000" cy="926849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just" defTabSz="457200">
              <a:lnSpc>
                <a:spcPct val="110000"/>
              </a:lnSpc>
              <a:spcBef>
                <a:spcPts val="1200"/>
              </a:spcBef>
              <a:defRPr b="0" sz="3200">
                <a:latin typeface="+mn-lt"/>
                <a:ea typeface="+mn-ea"/>
                <a:cs typeface="+mn-cs"/>
                <a:sym typeface="Helvetica"/>
              </a:defRPr>
            </a:pPr>
            <a:r>
              <a:t>Un’applicazione permette di verbalizzare gli esiti degli esami di un </a:t>
            </a:r>
            <a:r>
              <a:rPr>
                <a:solidFill>
                  <a:srgbClr val="EE230C"/>
                </a:solidFill>
              </a:rPr>
              <a:t>appello</a:t>
            </a:r>
            <a:r>
              <a:t>. Il </a:t>
            </a:r>
            <a:r>
              <a:rPr>
                <a:solidFill>
                  <a:srgbClr val="EE230C"/>
                </a:solidFill>
              </a:rPr>
              <a:t>docente</a:t>
            </a:r>
            <a:r>
              <a:t> accede tramite login e seleziona nella HOME page un </a:t>
            </a:r>
            <a:r>
              <a:rPr>
                <a:solidFill>
                  <a:srgbClr val="EE230C"/>
                </a:solidFill>
              </a:rPr>
              <a:t>corso</a:t>
            </a:r>
            <a:r>
              <a:t> da una lista dei propri corsi ordinata in modo alfabetico decrescente e poi una </a:t>
            </a:r>
            <a:r>
              <a:rPr>
                <a:solidFill>
                  <a:srgbClr val="1EB001"/>
                </a:solidFill>
              </a:rPr>
              <a:t>data d’appello</a:t>
            </a:r>
            <a:r>
              <a:t> del </a:t>
            </a:r>
            <a:r>
              <a:rPr>
                <a:solidFill>
                  <a:srgbClr val="EE230C"/>
                </a:solidFill>
              </a:rPr>
              <a:t>corso</a:t>
            </a:r>
            <a:r>
              <a:t> scelto selezionata da un elenco ordinato per data decrescente. </a:t>
            </a:r>
            <a:r>
              <a:rPr>
                <a:solidFill>
                  <a:srgbClr val="0076BA"/>
                </a:solidFill>
              </a:rPr>
              <a:t>Ogni corso ha un solo docente</a:t>
            </a:r>
            <a:r>
              <a:t>. La selezione dell’appello porta a una pagina ISCRITTI, che mostra una tabella con tutti gli </a:t>
            </a:r>
            <a:r>
              <a:rPr>
                <a:solidFill>
                  <a:srgbClr val="0076BA"/>
                </a:solidFill>
              </a:rPr>
              <a:t>iscritti all’appello</a:t>
            </a:r>
            <a:r>
              <a:t>. La tabella riporta i seguenti dati: </a:t>
            </a:r>
            <a:r>
              <a:rPr>
                <a:solidFill>
                  <a:srgbClr val="1EB001"/>
                </a:solidFill>
              </a:rPr>
              <a:t>matricola</a:t>
            </a:r>
            <a:r>
              <a:t>, </a:t>
            </a:r>
            <a:r>
              <a:rPr>
                <a:solidFill>
                  <a:srgbClr val="1EB001"/>
                </a:solidFill>
              </a:rPr>
              <a:t>cognome</a:t>
            </a:r>
            <a:r>
              <a:t> e </a:t>
            </a:r>
            <a:r>
              <a:rPr>
                <a:solidFill>
                  <a:srgbClr val="1EB001"/>
                </a:solidFill>
              </a:rPr>
              <a:t>nome</a:t>
            </a:r>
            <a:r>
              <a:t>, </a:t>
            </a:r>
            <a:r>
              <a:rPr>
                <a:solidFill>
                  <a:srgbClr val="1EB001"/>
                </a:solidFill>
              </a:rPr>
              <a:t>email</a:t>
            </a:r>
            <a:r>
              <a:t>, </a:t>
            </a:r>
            <a:r>
              <a:rPr>
                <a:solidFill>
                  <a:srgbClr val="1EB001"/>
                </a:solidFill>
              </a:rPr>
              <a:t>corso di laurea</a:t>
            </a:r>
            <a:r>
              <a:t>, </a:t>
            </a:r>
            <a:r>
              <a:rPr>
                <a:solidFill>
                  <a:srgbClr val="1EB001"/>
                </a:solidFill>
              </a:rPr>
              <a:t>voto</a:t>
            </a:r>
            <a:r>
              <a:t> e </a:t>
            </a:r>
            <a:r>
              <a:rPr>
                <a:solidFill>
                  <a:srgbClr val="1EB001"/>
                </a:solidFill>
              </a:rPr>
              <a:t>stato di valutazione</a:t>
            </a:r>
            <a:r>
              <a:t>. Il voto può non essere ancora definito. Lo </a:t>
            </a:r>
            <a:r>
              <a:rPr>
                <a:solidFill>
                  <a:srgbClr val="EE230C"/>
                </a:solidFill>
              </a:rPr>
              <a:t>stato di valutazione</a:t>
            </a:r>
            <a:r>
              <a:t> dello </a:t>
            </a:r>
            <a:r>
              <a:rPr>
                <a:solidFill>
                  <a:srgbClr val="EE230C"/>
                </a:solidFill>
              </a:rPr>
              <a:t>studente</a:t>
            </a:r>
            <a:r>
              <a:t> </a:t>
            </a:r>
            <a:r>
              <a:rPr>
                <a:solidFill>
                  <a:srgbClr val="0076BA"/>
                </a:solidFill>
              </a:rPr>
              <a:t>rispetto all’appello</a:t>
            </a:r>
            <a:r>
              <a:t> può assumere i valori: non inserito, inserito, pubblicato, rifiutato e verbalizzato. Selezionando un’etichetta nell’intestazione della tabella, l’utente ordina le righe in base al valore di tale etichetta (ad esempio, selezionando “cognome” la tabella è riordinata in base al cognome). Successive selezioni della stessa etichetta invertono l’ordinamento: si parte con l’ordinamento crescente. Il valore del </a:t>
            </a:r>
            <a:r>
              <a:rPr>
                <a:solidFill>
                  <a:srgbClr val="EE230C"/>
                </a:solidFill>
              </a:rPr>
              <a:t>voto</a:t>
            </a:r>
            <a:r>
              <a:t> viene considerato ordinato nel modo seguente: &lt;vuoto&gt;, assente, rimandato, riprovato, 18, 19, ..., 30, 30 e lode. Nella tabella della pagina ISCRITTI ad ogni riga corrisponde un bottone “MODIFICA”. Premendo il bottone compare una pagina con una form che mostra tutti i dati dello studente selezionato e un campo di input in cui è possibile scegliere il voto. L’invio della form provoca la modifica o l’inserimento del voto. Inizialmente le righe sono nello stato di valutazione “non inserito”. L’inserimento e le successive eventuali modifiche portano la riga nello stato di valutazione “inserito”. Alla tabella della pagina ISCRITTI è associato un bottone PUBBLICA che comporta la pubblicazione delle righe con lo stato di valutazione INSERITO. La pubblicazione rende il voto non più modificabile dal docente e visibile allo studente e cambia lo stato di valutazione della riga dello studente a “pubblicato”.</a:t>
            </a:r>
          </a:p>
        </p:txBody>
      </p:sp>
      <p:sp>
        <p:nvSpPr>
          <p:cNvPr id="166" name="Slide Number"/>
          <p:cNvSpPr txBox="1"/>
          <p:nvPr>
            <p:ph type="sldNum" sz="quarter" idx="4294967295"/>
          </p:nvPr>
        </p:nvSpPr>
        <p:spPr>
          <a:xfrm>
            <a:off x="12065033" y="13074597"/>
            <a:ext cx="241437" cy="381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67" name="Entities - attributes - relationships"/>
          <p:cNvSpPr txBox="1"/>
          <p:nvPr/>
        </p:nvSpPr>
        <p:spPr>
          <a:xfrm>
            <a:off x="1206500" y="2355185"/>
            <a:ext cx="21971000" cy="934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algn="l" defTabSz="825500">
              <a:defRPr b="1" sz="4800">
                <a:solidFill>
                  <a:srgbClr val="EE230C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Entities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1EB001"/>
                </a:solidFill>
              </a:rPr>
              <a:t>attributes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0076BA"/>
                </a:solidFill>
              </a:rPr>
              <a:t>relationships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Database analysis of specs -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 sz="8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Database analysis of specs - 2</a:t>
            </a:r>
          </a:p>
        </p:txBody>
      </p:sp>
      <p:sp>
        <p:nvSpPr>
          <p:cNvPr id="170" name="Lo studente accede tramite login e seleziona nella HOME page un corso tra quelli a cui è iscritto mediante una lista ordinata in modo alfabetico decrescente e poi una data d’appello del corso scelto selezionata da un elenco ordinato per data decrescente."/>
          <p:cNvSpPr txBox="1"/>
          <p:nvPr>
            <p:ph type="body" idx="1"/>
          </p:nvPr>
        </p:nvSpPr>
        <p:spPr>
          <a:xfrm>
            <a:off x="1206500" y="3162583"/>
            <a:ext cx="21971000" cy="926849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just" defTabSz="457200">
              <a:lnSpc>
                <a:spcPct val="110000"/>
              </a:lnSpc>
              <a:spcBef>
                <a:spcPts val="1200"/>
              </a:spcBef>
              <a:defRPr b="0" sz="3300">
                <a:latin typeface="+mn-lt"/>
                <a:ea typeface="+mn-ea"/>
                <a:cs typeface="+mn-cs"/>
                <a:sym typeface="Helvetica"/>
              </a:defRPr>
            </a:pPr>
            <a:r>
              <a:t>Lo studente accede tramite login e seleziona nella HOME page un </a:t>
            </a:r>
            <a:r>
              <a:rPr>
                <a:solidFill>
                  <a:srgbClr val="0076BA"/>
                </a:solidFill>
              </a:rPr>
              <a:t>corso tra quelli a cui è iscritto</a:t>
            </a:r>
            <a:r>
              <a:t> mediante una lista ordinata in modo alfabetico decrescente e poi una data d’appello del corso scelto selezionata da un elenco ordinato per data decrescente. Uno studente può essere iscritto a </a:t>
            </a:r>
            <a:r>
              <a:rPr>
                <a:solidFill>
                  <a:srgbClr val="0076BA"/>
                </a:solidFill>
              </a:rPr>
              <a:t>più appelli dello stesso corso</a:t>
            </a:r>
            <a:r>
              <a:t>. La selezione della data d’appello porta a una pagina ESITO che mostra il messaggio “Voto non ancora definito” se il docente non ha ancora pubblicato il risultato per quello studente in quell’appello. Altrimenti, la pagina mostra i dati dello studente, del corso, dell’appello e il voto assegnato. Se il voto è tra 18 e 30 e lode compare un bottone RIFIUTA. Premendo tale bottone la pagina mostra gli stessi dati con la dizione aggiunta “Il voto è stato rifiutato” e senza il bottone RIFIUTA. Il rifiuto del voto cambia lo stato di valutazione a “rifiutato” della riga dello studente per quell’appello nella pagina ISCRITTI del docente. Nella pagina ISCRITTI del docente la tabella degli iscritti è associata anche a un bottone VERBALIZZA. La pressione del bottone provoca il cambio di stato a “verbalizzato” per le righe nello stato “pubblicato” o "rifiutato" e comporta anche la creazione di un </a:t>
            </a:r>
            <a:r>
              <a:rPr>
                <a:solidFill>
                  <a:srgbClr val="EE230C"/>
                </a:solidFill>
              </a:rPr>
              <a:t>verbale</a:t>
            </a:r>
            <a:r>
              <a:t> e la disabilitazione della possibilità di rifiutare il voto. Il rifiuto implica la verbalizzazione di “rimandato” come voto. Un verbale ha un </a:t>
            </a:r>
            <a:r>
              <a:rPr>
                <a:solidFill>
                  <a:srgbClr val="1EB001"/>
                </a:solidFill>
              </a:rPr>
              <a:t>codice generato dal sistema</a:t>
            </a:r>
            <a:r>
              <a:t>, una </a:t>
            </a:r>
            <a:r>
              <a:rPr>
                <a:solidFill>
                  <a:srgbClr val="1EB001"/>
                </a:solidFill>
              </a:rPr>
              <a:t>data</a:t>
            </a:r>
            <a:r>
              <a:t> e </a:t>
            </a:r>
            <a:r>
              <a:rPr>
                <a:solidFill>
                  <a:srgbClr val="1EB001"/>
                </a:solidFill>
              </a:rPr>
              <a:t>ora di creazione</a:t>
            </a:r>
            <a:r>
              <a:t> ed è </a:t>
            </a:r>
            <a:r>
              <a:rPr>
                <a:solidFill>
                  <a:srgbClr val="0076BA"/>
                </a:solidFill>
              </a:rPr>
              <a:t>associato all’appello del corso</a:t>
            </a:r>
            <a:r>
              <a:t> </a:t>
            </a:r>
            <a:r>
              <a:rPr>
                <a:solidFill>
                  <a:srgbClr val="0076BA"/>
                </a:solidFill>
              </a:rPr>
              <a:t>a cui si riferisce e agli</a:t>
            </a:r>
            <a:r>
              <a:t> </a:t>
            </a:r>
            <a:r>
              <a:rPr>
                <a:solidFill>
                  <a:srgbClr val="0076BA"/>
                </a:solidFill>
              </a:rPr>
              <a:t>studenti</a:t>
            </a:r>
            <a:r>
              <a:t> (con nome, cognome, matricola e voto) che passano allo stato “verbalizzato”. A seguito della pressione del bottone VERBALIZZA compare una pagina VERBALE che mostra i dati completi del verbale creato.</a:t>
            </a:r>
          </a:p>
        </p:txBody>
      </p:sp>
      <p:sp>
        <p:nvSpPr>
          <p:cNvPr id="171" name="Slide Number"/>
          <p:cNvSpPr txBox="1"/>
          <p:nvPr>
            <p:ph type="sldNum" sz="quarter" idx="4294967295"/>
          </p:nvPr>
        </p:nvSpPr>
        <p:spPr>
          <a:xfrm>
            <a:off x="12065033" y="13074597"/>
            <a:ext cx="241437" cy="381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72" name="Entities - attributes - relationships"/>
          <p:cNvSpPr txBox="1"/>
          <p:nvPr/>
        </p:nvSpPr>
        <p:spPr>
          <a:xfrm>
            <a:off x="1206500" y="2355185"/>
            <a:ext cx="21971000" cy="934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algn="l" defTabSz="825500">
              <a:defRPr b="1" sz="4800">
                <a:solidFill>
                  <a:srgbClr val="EE230C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Entities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1EB001"/>
                </a:solidFill>
              </a:rPr>
              <a:t>attributes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0076BA"/>
                </a:solidFill>
              </a:rPr>
              <a:t>relationships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Website analysis of specs -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pc="-200" sz="8400">
                <a:latin typeface="+mn-lt"/>
                <a:ea typeface="+mn-ea"/>
                <a:cs typeface="+mn-cs"/>
                <a:sym typeface="Helvetica"/>
              </a:defRPr>
            </a:pPr>
            <a:r>
              <a:t>Website analysis of specs</a:t>
            </a:r>
            <a:r>
              <a:rPr sz="8500"/>
              <a:t> - 1</a:t>
            </a:r>
          </a:p>
        </p:txBody>
      </p:sp>
      <p:sp>
        <p:nvSpPr>
          <p:cNvPr id="175" name="Un’applicazione permette di verbalizzare gli esiti degli esami di un appello. Il docente accede tramite login e seleziona nella HOME page un corso da una lista dei propri corsi ordinata in modo alfabetico decrescente e poi una data d’appello del corso sc"/>
          <p:cNvSpPr txBox="1"/>
          <p:nvPr>
            <p:ph type="body" idx="1"/>
          </p:nvPr>
        </p:nvSpPr>
        <p:spPr>
          <a:xfrm>
            <a:off x="1206500" y="3324050"/>
            <a:ext cx="21971000" cy="926849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just" defTabSz="457200">
              <a:lnSpc>
                <a:spcPct val="110000"/>
              </a:lnSpc>
              <a:spcBef>
                <a:spcPts val="1200"/>
              </a:spcBef>
              <a:defRPr b="0" sz="3200">
                <a:latin typeface="+mn-lt"/>
                <a:ea typeface="+mn-ea"/>
                <a:cs typeface="+mn-cs"/>
                <a:sym typeface="Helvetica"/>
              </a:defRPr>
            </a:pPr>
            <a:r>
              <a:t>Un’applicazione permette di verbalizzare gli esiti degli esami di un appello. </a:t>
            </a:r>
            <a:r>
              <a:rPr>
                <a:solidFill>
                  <a:srgbClr val="0076BA"/>
                </a:solidFill>
              </a:rPr>
              <a:t>Il docente accede tramite login</a:t>
            </a:r>
            <a:r>
              <a:t> e </a:t>
            </a:r>
            <a:r>
              <a:rPr>
                <a:solidFill>
                  <a:srgbClr val="0076BA"/>
                </a:solidFill>
              </a:rPr>
              <a:t>seleziona</a:t>
            </a:r>
            <a:r>
              <a:t> nella </a:t>
            </a:r>
            <a:r>
              <a:rPr>
                <a:solidFill>
                  <a:srgbClr val="EE230C"/>
                </a:solidFill>
              </a:rPr>
              <a:t>HOME</a:t>
            </a:r>
            <a:r>
              <a:t> page un corso da una </a:t>
            </a:r>
            <a:r>
              <a:rPr>
                <a:solidFill>
                  <a:srgbClr val="1EB001"/>
                </a:solidFill>
              </a:rPr>
              <a:t>lista dei propri corsi ordinata</a:t>
            </a:r>
            <a:r>
              <a:t> in modo alfabetico decrescente e poi una </a:t>
            </a:r>
            <a:r>
              <a:rPr>
                <a:solidFill>
                  <a:srgbClr val="1EB001"/>
                </a:solidFill>
              </a:rPr>
              <a:t>data d’appello del corso scelto selezionata da un elenco</a:t>
            </a:r>
            <a:r>
              <a:t> ordinato per data decrescente. Ogni corso ha un solo docente. </a:t>
            </a:r>
            <a:r>
              <a:rPr>
                <a:solidFill>
                  <a:srgbClr val="0076BA"/>
                </a:solidFill>
              </a:rPr>
              <a:t>La selezione dell’appello</a:t>
            </a:r>
            <a:r>
              <a:t> </a:t>
            </a:r>
            <a:r>
              <a:rPr>
                <a:solidFill>
                  <a:srgbClr val="F27100"/>
                </a:solidFill>
              </a:rPr>
              <a:t>porta a una pagina</a:t>
            </a:r>
            <a:r>
              <a:t> </a:t>
            </a:r>
            <a:r>
              <a:rPr>
                <a:solidFill>
                  <a:srgbClr val="EE230C"/>
                </a:solidFill>
              </a:rPr>
              <a:t>ISCRITTI</a:t>
            </a:r>
            <a:r>
              <a:t>, che mostra una </a:t>
            </a:r>
            <a:r>
              <a:rPr>
                <a:solidFill>
                  <a:srgbClr val="1EB001"/>
                </a:solidFill>
              </a:rPr>
              <a:t>tabella con tutti gli iscritti all’appello</a:t>
            </a:r>
            <a:r>
              <a:t>. La tabella riporta i seguenti dati: matricola, cognome e nome, email, corso di laurea, voto e stato di valutazione. Il voto può non essere ancora definito. Lo stato di valutazione dello studente rispetto all’appello può assumere i valori: non inserito, inserito, pubblicato, rifiutato e verbalizzato. </a:t>
            </a:r>
            <a:r>
              <a:rPr>
                <a:solidFill>
                  <a:srgbClr val="0076BA"/>
                </a:solidFill>
              </a:rPr>
              <a:t>Selezionando</a:t>
            </a:r>
            <a:r>
              <a:t> </a:t>
            </a:r>
            <a:r>
              <a:rPr>
                <a:solidFill>
                  <a:srgbClr val="1EB001"/>
                </a:solidFill>
              </a:rPr>
              <a:t>un’etichetta</a:t>
            </a:r>
            <a:r>
              <a:t> nell’intestazione della tabella, l’utente </a:t>
            </a:r>
            <a:r>
              <a:rPr>
                <a:solidFill>
                  <a:srgbClr val="F27100"/>
                </a:solidFill>
              </a:rPr>
              <a:t>ordina le righe</a:t>
            </a:r>
            <a:r>
              <a:t> in base al valore di tale etichetta (ad esempio, selezionando “cognome” la tabella è riordinata in base al cognome). Successive </a:t>
            </a:r>
            <a:r>
              <a:rPr>
                <a:solidFill>
                  <a:srgbClr val="0076BA"/>
                </a:solidFill>
              </a:rPr>
              <a:t>selezioni</a:t>
            </a:r>
            <a:r>
              <a:t> della stessa etichetta </a:t>
            </a:r>
            <a:r>
              <a:rPr>
                <a:solidFill>
                  <a:srgbClr val="F27100"/>
                </a:solidFill>
              </a:rPr>
              <a:t>invertono l’ordinamento</a:t>
            </a:r>
            <a:r>
              <a:t>: si parte con l’ordinamento crescente. Il valore del voto viene considerato ordinato nel modo seguente: &lt;vuoto&gt;, assente, rimandato, riprovato, 18, 19, ..., 30, 30 e lode. Nella tabella della pagina ISCRITTI ad ogni riga corrisponde un </a:t>
            </a:r>
            <a:r>
              <a:rPr>
                <a:solidFill>
                  <a:srgbClr val="1EB001"/>
                </a:solidFill>
              </a:rPr>
              <a:t>bottone “MODIFICA”</a:t>
            </a:r>
            <a:r>
              <a:t>. </a:t>
            </a:r>
            <a:r>
              <a:rPr>
                <a:solidFill>
                  <a:srgbClr val="0076BA"/>
                </a:solidFill>
              </a:rPr>
              <a:t>Premendo il bottone</a:t>
            </a:r>
            <a:r>
              <a:t> compare una </a:t>
            </a:r>
            <a:r>
              <a:rPr>
                <a:solidFill>
                  <a:srgbClr val="EE230C"/>
                </a:solidFill>
              </a:rPr>
              <a:t>pagina con una form</a:t>
            </a:r>
            <a:r>
              <a:t> che mostra tutti i dati dello studente selezionato e un campo di input in cui è possibile scegliere il voto. </a:t>
            </a:r>
            <a:r>
              <a:rPr>
                <a:solidFill>
                  <a:srgbClr val="0076BA"/>
                </a:solidFill>
              </a:rPr>
              <a:t>L’invio della form</a:t>
            </a:r>
            <a:r>
              <a:t> provoca la </a:t>
            </a:r>
            <a:r>
              <a:rPr>
                <a:solidFill>
                  <a:srgbClr val="F27100"/>
                </a:solidFill>
              </a:rPr>
              <a:t>modifica o l’inserimento del voto</a:t>
            </a:r>
            <a:r>
              <a:t>. Inizialmente le righe sono nello stato di valutazione “non inserito”. L’inserimento e le successive eventuali modifiche </a:t>
            </a:r>
            <a:r>
              <a:rPr>
                <a:solidFill>
                  <a:srgbClr val="F27100"/>
                </a:solidFill>
              </a:rPr>
              <a:t>portano la riga nello stato di valutazione “inserito”</a:t>
            </a:r>
            <a:r>
              <a:t>. Alla tabella della pagina ISCRITTI è associato un </a:t>
            </a:r>
            <a:r>
              <a:rPr>
                <a:solidFill>
                  <a:srgbClr val="1EB001"/>
                </a:solidFill>
              </a:rPr>
              <a:t>bottone “PUBBLICA”</a:t>
            </a:r>
            <a:r>
              <a:t> che comporta la </a:t>
            </a:r>
            <a:r>
              <a:rPr>
                <a:solidFill>
                  <a:srgbClr val="F27100"/>
                </a:solidFill>
              </a:rPr>
              <a:t>pubblicazione delle righe con lo stato di valutazione INSERITO</a:t>
            </a:r>
            <a:r>
              <a:t>. La pubblicazione rende il voto non più modificabile dal docente e visibile allo studente e cambia lo stato di valutazione della riga dello studente a “pubblicato”.</a:t>
            </a:r>
          </a:p>
        </p:txBody>
      </p:sp>
      <p:sp>
        <p:nvSpPr>
          <p:cNvPr id="176" name="Slide Number"/>
          <p:cNvSpPr txBox="1"/>
          <p:nvPr>
            <p:ph type="sldNum" sz="quarter" idx="4294967295"/>
          </p:nvPr>
        </p:nvSpPr>
        <p:spPr>
          <a:xfrm>
            <a:off x="12065033" y="13074597"/>
            <a:ext cx="241437" cy="381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77" name="Pages - View components - Events - Actions"/>
          <p:cNvSpPr txBox="1"/>
          <p:nvPr/>
        </p:nvSpPr>
        <p:spPr>
          <a:xfrm>
            <a:off x="1206500" y="2355185"/>
            <a:ext cx="21971000" cy="934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algn="l" defTabSz="825500">
              <a:defRPr b="1" sz="4800">
                <a:solidFill>
                  <a:srgbClr val="EE230C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Pages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1EB001"/>
                </a:solidFill>
              </a:rPr>
              <a:t>View components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0076BA"/>
                </a:solidFill>
              </a:rPr>
              <a:t>Events </a:t>
            </a:r>
            <a:r>
              <a:rPr>
                <a:solidFill>
                  <a:srgbClr val="000000"/>
                </a:solidFill>
              </a:rPr>
              <a:t>- </a:t>
            </a:r>
            <a:r>
              <a:rPr>
                <a:solidFill>
                  <a:srgbClr val="F27100"/>
                </a:solidFill>
              </a:rPr>
              <a:t>Actions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Website analysis of specs -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 sz="84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Website analysis of specs - 2</a:t>
            </a:r>
          </a:p>
        </p:txBody>
      </p:sp>
      <p:sp>
        <p:nvSpPr>
          <p:cNvPr id="180" name="Lo studente accede tramite login e seleziona nella HOME page un corso tra quelli a cui è iscritto mediante una lista ordinata in modo alfabetico decrescente e poi una data d’appello del corso scelto selezionata da un elenco ordinato per data decrescente."/>
          <p:cNvSpPr txBox="1"/>
          <p:nvPr>
            <p:ph type="body" idx="1"/>
          </p:nvPr>
        </p:nvSpPr>
        <p:spPr>
          <a:xfrm>
            <a:off x="1206500" y="3162583"/>
            <a:ext cx="21971000" cy="926849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just" defTabSz="457200">
              <a:lnSpc>
                <a:spcPct val="110000"/>
              </a:lnSpc>
              <a:spcBef>
                <a:spcPts val="1200"/>
              </a:spcBef>
              <a:defRPr b="0" sz="3300">
                <a:solidFill>
                  <a:srgbClr val="0076BA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Lo studente accede tramite login</a:t>
            </a:r>
            <a:r>
              <a:rPr>
                <a:solidFill>
                  <a:srgbClr val="000000"/>
                </a:solidFill>
              </a:rPr>
              <a:t> e </a:t>
            </a:r>
            <a:r>
              <a:t>seleziona</a:t>
            </a:r>
            <a:r>
              <a:rPr>
                <a:solidFill>
                  <a:srgbClr val="000000"/>
                </a:solidFill>
              </a:rPr>
              <a:t> nella </a:t>
            </a:r>
            <a:r>
              <a:rPr>
                <a:solidFill>
                  <a:srgbClr val="EE230C"/>
                </a:solidFill>
              </a:rPr>
              <a:t>HOME</a:t>
            </a:r>
            <a:r>
              <a:rPr>
                <a:solidFill>
                  <a:srgbClr val="000000"/>
                </a:solidFill>
              </a:rPr>
              <a:t> page un corso tra quelli a cui è iscritto mediante una </a:t>
            </a:r>
            <a:r>
              <a:rPr>
                <a:solidFill>
                  <a:srgbClr val="1EB001"/>
                </a:solidFill>
              </a:rPr>
              <a:t>lista ordinata</a:t>
            </a:r>
            <a:r>
              <a:rPr>
                <a:solidFill>
                  <a:srgbClr val="000000"/>
                </a:solidFill>
              </a:rPr>
              <a:t> in modo alfabetico decrescente e poi una </a:t>
            </a:r>
            <a:r>
              <a:rPr>
                <a:solidFill>
                  <a:srgbClr val="1EB001"/>
                </a:solidFill>
              </a:rPr>
              <a:t>data d’appello del corso scelto</a:t>
            </a:r>
            <a:r>
              <a:rPr>
                <a:solidFill>
                  <a:srgbClr val="000000"/>
                </a:solidFill>
              </a:rPr>
              <a:t> selezionata da un elenco ordinato per data decrescente. Uno studente può essere iscritto a più appelli dello stesso corso. </a:t>
            </a:r>
            <a:r>
              <a:t>La selezione della data d’appello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F27100"/>
                </a:solidFill>
              </a:rPr>
              <a:t>porta</a:t>
            </a:r>
            <a:r>
              <a:rPr>
                <a:solidFill>
                  <a:srgbClr val="000000"/>
                </a:solidFill>
              </a:rPr>
              <a:t> a una pagina </a:t>
            </a:r>
            <a:r>
              <a:rPr>
                <a:solidFill>
                  <a:srgbClr val="EE230C"/>
                </a:solidFill>
              </a:rPr>
              <a:t>ESITO</a:t>
            </a:r>
            <a:r>
              <a:rPr>
                <a:solidFill>
                  <a:srgbClr val="000000"/>
                </a:solidFill>
              </a:rPr>
              <a:t> che mostra il messaggio “Voto non ancora definito” se il docente non ha ancora pubblicato il risultato per quello studente in quell’appello. Altrimenti, la pagina mostra i </a:t>
            </a:r>
            <a:r>
              <a:rPr>
                <a:solidFill>
                  <a:srgbClr val="1EB001"/>
                </a:solidFill>
              </a:rPr>
              <a:t>dati dello studente</a:t>
            </a:r>
            <a:r>
              <a:rPr>
                <a:solidFill>
                  <a:srgbClr val="000000"/>
                </a:solidFill>
              </a:rPr>
              <a:t>,</a:t>
            </a:r>
            <a:r>
              <a:rPr>
                <a:solidFill>
                  <a:srgbClr val="1EB001"/>
                </a:solidFill>
              </a:rPr>
              <a:t> del corso</a:t>
            </a:r>
            <a:r>
              <a:rPr>
                <a:solidFill>
                  <a:srgbClr val="000000"/>
                </a:solidFill>
              </a:rPr>
              <a:t>,</a:t>
            </a:r>
            <a:r>
              <a:rPr>
                <a:solidFill>
                  <a:srgbClr val="1EB001"/>
                </a:solidFill>
              </a:rPr>
              <a:t> dell’appello e il voto assegnato</a:t>
            </a:r>
            <a:r>
              <a:rPr>
                <a:solidFill>
                  <a:srgbClr val="000000"/>
                </a:solidFill>
              </a:rPr>
              <a:t>. Se il voto è tra 18 e 30 e lode compare un </a:t>
            </a:r>
            <a:r>
              <a:rPr>
                <a:solidFill>
                  <a:srgbClr val="1EB001"/>
                </a:solidFill>
              </a:rPr>
              <a:t>bottone “RIFIUTA”</a:t>
            </a:r>
            <a:r>
              <a:rPr>
                <a:solidFill>
                  <a:srgbClr val="000000"/>
                </a:solidFill>
              </a:rPr>
              <a:t>. </a:t>
            </a:r>
            <a:r>
              <a:t>Premendo tale bottone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F27100"/>
                </a:solidFill>
              </a:rPr>
              <a:t>la pagina mostra gli stessi dati con la dizione aggiunta “Il voto è stato rifiutato” e senza il bottone RIFIUTA</a:t>
            </a:r>
            <a:r>
              <a:rPr>
                <a:solidFill>
                  <a:srgbClr val="000000"/>
                </a:solidFill>
              </a:rPr>
              <a:t>. </a:t>
            </a:r>
            <a:r>
              <a:rPr>
                <a:solidFill>
                  <a:srgbClr val="F27100"/>
                </a:solidFill>
              </a:rPr>
              <a:t>Il rifiuto del voto cambia lo stato di valutazione a “rifiutato”</a:t>
            </a:r>
            <a:r>
              <a:rPr>
                <a:solidFill>
                  <a:srgbClr val="000000"/>
                </a:solidFill>
              </a:rPr>
              <a:t> della riga dello studente per quell’appello nella pagina ISCRITTI del docente. Nella pagina ISCRITTI del docente la tabella degli iscritti è associata anche a un </a:t>
            </a:r>
            <a:r>
              <a:rPr>
                <a:solidFill>
                  <a:srgbClr val="1EB001"/>
                </a:solidFill>
              </a:rPr>
              <a:t>bottone “VERBALIZZA”</a:t>
            </a:r>
            <a:r>
              <a:rPr>
                <a:solidFill>
                  <a:srgbClr val="000000"/>
                </a:solidFill>
              </a:rPr>
              <a:t>. </a:t>
            </a:r>
            <a:r>
              <a:t>La pressione del bottone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F27100"/>
                </a:solidFill>
              </a:rPr>
              <a:t>provoca il cambio di stato a “verbalizzato”</a:t>
            </a:r>
            <a:r>
              <a:rPr>
                <a:solidFill>
                  <a:srgbClr val="000000"/>
                </a:solidFill>
              </a:rPr>
              <a:t> per le righe nello stato “pubblicato” o "rifiutato" e </a:t>
            </a:r>
            <a:r>
              <a:rPr>
                <a:solidFill>
                  <a:srgbClr val="F27100"/>
                </a:solidFill>
              </a:rPr>
              <a:t>comporta anche la creazione di un verbale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F27100"/>
                </a:solidFill>
              </a:rPr>
              <a:t>e la disabilitazione della possibilità di rifiutare il voto</a:t>
            </a:r>
            <a:r>
              <a:rPr>
                <a:solidFill>
                  <a:srgbClr val="000000"/>
                </a:solidFill>
              </a:rPr>
              <a:t>. Il rifiuto implica la verbalizzazione di “rimandato” come voto. Un verbale ha un codice generato dal sistema, una data e ora di creazione ed è associato all’appello del corso a cui si riferisce e agli studenti (con nome, cognome, matricola e voto) che passano allo stato “verbalizzato”. A seguito della </a:t>
            </a:r>
            <a:r>
              <a:t>pressione del bottone</a:t>
            </a:r>
            <a:r>
              <a:rPr>
                <a:solidFill>
                  <a:srgbClr val="000000"/>
                </a:solidFill>
              </a:rPr>
              <a:t> VERBALIZZA </a:t>
            </a:r>
            <a:r>
              <a:rPr>
                <a:solidFill>
                  <a:srgbClr val="F27100"/>
                </a:solidFill>
              </a:rPr>
              <a:t>compare una pagina VERBALE</a:t>
            </a:r>
            <a:r>
              <a:rPr>
                <a:solidFill>
                  <a:srgbClr val="000000"/>
                </a:solidFill>
              </a:rPr>
              <a:t> che mostra i </a:t>
            </a:r>
            <a:r>
              <a:rPr>
                <a:solidFill>
                  <a:srgbClr val="1EB001"/>
                </a:solidFill>
              </a:rPr>
              <a:t>dati completi del verbale creato</a:t>
            </a:r>
            <a:r>
              <a:rPr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181" name="Slide Number"/>
          <p:cNvSpPr txBox="1"/>
          <p:nvPr>
            <p:ph type="sldNum" sz="quarter" idx="4294967295"/>
          </p:nvPr>
        </p:nvSpPr>
        <p:spPr>
          <a:xfrm>
            <a:off x="12065033" y="13074597"/>
            <a:ext cx="241437" cy="381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82" name="Pages - View components - Events - Actions"/>
          <p:cNvSpPr txBox="1"/>
          <p:nvPr/>
        </p:nvSpPr>
        <p:spPr>
          <a:xfrm>
            <a:off x="1206500" y="2355185"/>
            <a:ext cx="21971000" cy="934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 algn="l" defTabSz="825500">
              <a:defRPr b="1" sz="4800">
                <a:solidFill>
                  <a:srgbClr val="EE230C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Pages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1EB001"/>
                </a:solidFill>
              </a:rPr>
              <a:t>View components</a:t>
            </a:r>
            <a:r>
              <a:rPr>
                <a:solidFill>
                  <a:srgbClr val="000000"/>
                </a:solidFill>
              </a:rPr>
              <a:t> - </a:t>
            </a:r>
            <a:r>
              <a:rPr>
                <a:solidFill>
                  <a:srgbClr val="0076BA"/>
                </a:solidFill>
              </a:rPr>
              <a:t>Events </a:t>
            </a:r>
            <a:r>
              <a:rPr>
                <a:solidFill>
                  <a:srgbClr val="000000"/>
                </a:solidFill>
              </a:rPr>
              <a:t>- </a:t>
            </a:r>
            <a:r>
              <a:rPr>
                <a:solidFill>
                  <a:srgbClr val="F27100"/>
                </a:solidFill>
              </a:rPr>
              <a:t>Actions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onceptual database mod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Conceptual database model</a:t>
            </a:r>
          </a:p>
        </p:txBody>
      </p:sp>
      <p:pic>
        <p:nvPicPr>
          <p:cNvPr id="185" name="ER diagram.jpeg" descr="ER diagram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92812" y="3061739"/>
            <a:ext cx="14798376" cy="100569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Logical database mod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Logical database model</a:t>
            </a:r>
          </a:p>
        </p:txBody>
      </p:sp>
      <p:pic>
        <p:nvPicPr>
          <p:cNvPr id="188" name="Screenshot 2023-06-09 at 12.39.13.png" descr="Screenshot 2023-06-09 at 12.39.1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61910" y="2825064"/>
            <a:ext cx="15076765" cy="10213294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Lauree…"/>
          <p:cNvSpPr txBox="1"/>
          <p:nvPr/>
        </p:nvSpPr>
        <p:spPr>
          <a:xfrm>
            <a:off x="1765942" y="3342842"/>
            <a:ext cx="4214566" cy="8757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Lauree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Insegnamenti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Docenti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Studenti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Scaglioni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Iscrizioni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Appelli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Esiti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Voti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Esami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Verbali</a:t>
            </a:r>
          </a:p>
          <a:p>
            <a:pPr marL="457200" indent="-457200" algn="l">
              <a:lnSpc>
                <a:spcPct val="120000"/>
              </a:lnSpc>
              <a:buSzPct val="123000"/>
              <a:buChar char="•"/>
              <a:defRPr sz="40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Studenti_verbali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Behavioural diagram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Behavioural diagrams</a:t>
            </a:r>
          </a:p>
        </p:txBody>
      </p:sp>
      <p:pic>
        <p:nvPicPr>
          <p:cNvPr id="192" name="Screenshot 2023-06-11 at 11.58.46.png" descr="Screenshot 2023-06-11 at 11.58.4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11635" y="2807958"/>
            <a:ext cx="17560730" cy="104092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Behavioural diagrams - teach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Behavioural diagrams - teacher</a:t>
            </a:r>
          </a:p>
        </p:txBody>
      </p:sp>
      <p:pic>
        <p:nvPicPr>
          <p:cNvPr id="19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69721" y="2681514"/>
            <a:ext cx="11844558" cy="104278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Behavioural diagrams - stud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Behavioural diagrams - student</a:t>
            </a:r>
          </a:p>
        </p:txBody>
      </p:sp>
      <p:pic>
        <p:nvPicPr>
          <p:cNvPr id="19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61657" y="2672900"/>
            <a:ext cx="14660685" cy="105029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pecification comple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Specification completion</a:t>
            </a:r>
          </a:p>
        </p:txBody>
      </p:sp>
      <p:sp>
        <p:nvSpPr>
          <p:cNvPr id="201" name="Login page is the same for every user and automatically selects the correct homepage.…"/>
          <p:cNvSpPr txBox="1"/>
          <p:nvPr>
            <p:ph type="body" idx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</p:spPr>
        <p:txBody>
          <a:bodyPr lIns="50800" tIns="50800" rIns="50800" bIns="50800"/>
          <a:lstStyle/>
          <a:p>
            <a:pPr marL="603504" indent="-603504" defTabSz="2413954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b="0" sz="4700"/>
            </a:pPr>
            <a:r>
              <a:t>Login page is the same for every user and automatically selects the correct homepage.</a:t>
            </a:r>
          </a:p>
          <a:p>
            <a:pPr marL="603504" indent="-603504" defTabSz="2413954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b="0" sz="4700"/>
            </a:pPr>
            <a:r>
              <a:t>Every exam session can have more reports.</a:t>
            </a:r>
          </a:p>
          <a:p>
            <a:pPr marL="603504" indent="-603504" defTabSz="2413954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b="0" sz="4700"/>
            </a:pPr>
            <a:r>
              <a:t>Teachers are not able to create empty reports: at least one exam has to be reported.</a:t>
            </a:r>
          </a:p>
          <a:p>
            <a:pPr marL="603504" indent="-603504" defTabSz="2413954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b="0" sz="4700"/>
            </a:pPr>
            <a:r>
              <a:t>Both teacher and student homepages have “logout” buttons and the remaining pages have “back” buttons</a:t>
            </a:r>
          </a:p>
          <a:p>
            <a:pPr marL="603504" indent="-603504" defTabSz="2413954">
              <a:lnSpc>
                <a:spcPct val="90000"/>
              </a:lnSpc>
              <a:spcBef>
                <a:spcPts val="4400"/>
              </a:spcBef>
              <a:buSzPct val="123000"/>
              <a:buChar char="•"/>
              <a:defRPr b="0" sz="4700"/>
            </a:pPr>
            <a:r>
              <a:t>Control checks for user authentication are executed during every page access.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Components -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Components - 1</a:t>
            </a:r>
          </a:p>
        </p:txBody>
      </p:sp>
      <p:sp>
        <p:nvSpPr>
          <p:cNvPr id="204" name="Model objects (Beans)…"/>
          <p:cNvSpPr txBox="1"/>
          <p:nvPr>
            <p:ph type="body" sz="quarter" idx="1"/>
          </p:nvPr>
        </p:nvSpPr>
        <p:spPr>
          <a:xfrm>
            <a:off x="1161966" y="4339090"/>
            <a:ext cx="6159107" cy="5037820"/>
          </a:xfrm>
          <a:prstGeom prst="rect">
            <a:avLst/>
          </a:prstGeom>
        </p:spPr>
        <p:txBody>
          <a:bodyPr lIns="45699" tIns="45699" rIns="45699" bIns="45699"/>
          <a:lstStyle/>
          <a:p>
            <a:pPr defTabSz="740662">
              <a:defRPr sz="3400">
                <a:latin typeface="+mn-lt"/>
                <a:ea typeface="+mn-ea"/>
                <a:cs typeface="+mn-cs"/>
                <a:sym typeface="Helvetica"/>
              </a:defRPr>
            </a:pPr>
            <a:r>
              <a:t>Model objects (Beans)</a:t>
            </a:r>
          </a:p>
          <a:p>
            <a:pPr lvl="1" marL="925830" indent="-432054" defTabSz="740662">
              <a:spcBef>
                <a:spcPts val="200"/>
              </a:spcBef>
              <a:defRPr b="0" sz="3400">
                <a:latin typeface="+mn-lt"/>
                <a:ea typeface="+mn-ea"/>
                <a:cs typeface="+mn-cs"/>
                <a:sym typeface="Helvetica"/>
              </a:defRPr>
            </a:pPr>
            <a:r>
              <a:t>Appello</a:t>
            </a:r>
          </a:p>
          <a:p>
            <a:pPr lvl="1" marL="925830" indent="-432054" defTabSz="740662">
              <a:spcBef>
                <a:spcPts val="200"/>
              </a:spcBef>
              <a:defRPr b="0" sz="3400">
                <a:latin typeface="+mn-lt"/>
                <a:ea typeface="+mn-ea"/>
                <a:cs typeface="+mn-cs"/>
                <a:sym typeface="Helvetica"/>
              </a:defRPr>
            </a:pPr>
            <a:r>
              <a:t>Docente</a:t>
            </a:r>
          </a:p>
          <a:p>
            <a:pPr lvl="1" marL="925830" indent="-432054" defTabSz="740662">
              <a:spcBef>
                <a:spcPts val="200"/>
              </a:spcBef>
              <a:defRPr b="0" sz="3400">
                <a:latin typeface="+mn-lt"/>
                <a:ea typeface="+mn-ea"/>
                <a:cs typeface="+mn-cs"/>
                <a:sym typeface="Helvetica"/>
              </a:defRPr>
            </a:pPr>
            <a:r>
              <a:t>Esame</a:t>
            </a:r>
          </a:p>
          <a:p>
            <a:pPr lvl="1" marL="925830" indent="-432054" defTabSz="740662">
              <a:spcBef>
                <a:spcPts val="200"/>
              </a:spcBef>
              <a:defRPr b="0" sz="3400">
                <a:latin typeface="+mn-lt"/>
                <a:ea typeface="+mn-ea"/>
                <a:cs typeface="+mn-cs"/>
                <a:sym typeface="Helvetica"/>
              </a:defRPr>
            </a:pPr>
            <a:r>
              <a:t>Laurea</a:t>
            </a:r>
          </a:p>
          <a:p>
            <a:pPr lvl="1" marL="925830" indent="-432054" defTabSz="740662">
              <a:spcBef>
                <a:spcPts val="200"/>
              </a:spcBef>
              <a:defRPr b="0" sz="3400">
                <a:latin typeface="+mn-lt"/>
                <a:ea typeface="+mn-ea"/>
                <a:cs typeface="+mn-cs"/>
                <a:sym typeface="Helvetica"/>
              </a:defRPr>
            </a:pPr>
            <a:r>
              <a:t>Scaglione</a:t>
            </a:r>
          </a:p>
          <a:p>
            <a:pPr lvl="1" marL="925830" indent="-432054" defTabSz="740662">
              <a:spcBef>
                <a:spcPts val="200"/>
              </a:spcBef>
              <a:defRPr b="0" sz="3400">
                <a:latin typeface="+mn-lt"/>
                <a:ea typeface="+mn-ea"/>
                <a:cs typeface="+mn-cs"/>
                <a:sym typeface="Helvetica"/>
              </a:defRPr>
            </a:pPr>
            <a:r>
              <a:t>Studente</a:t>
            </a:r>
          </a:p>
          <a:p>
            <a:pPr lvl="1" marL="925830" indent="-432054" defTabSz="740662">
              <a:spcBef>
                <a:spcPts val="200"/>
              </a:spcBef>
              <a:defRPr b="0" sz="3400">
                <a:latin typeface="+mn-lt"/>
                <a:ea typeface="+mn-ea"/>
                <a:cs typeface="+mn-cs"/>
                <a:sym typeface="Helvetica"/>
              </a:defRPr>
            </a:pPr>
            <a:r>
              <a:t>Verbale</a:t>
            </a:r>
          </a:p>
        </p:txBody>
      </p:sp>
      <p:sp>
        <p:nvSpPr>
          <p:cNvPr id="205" name="Data Access Objects (Classes)…"/>
          <p:cNvSpPr txBox="1"/>
          <p:nvPr/>
        </p:nvSpPr>
        <p:spPr>
          <a:xfrm>
            <a:off x="8471279" y="3156116"/>
            <a:ext cx="11698685" cy="863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914400">
              <a:spcBef>
                <a:spcPts val="300"/>
              </a:spcBef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Data Access Objects (Classes)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AppelloDAO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getAppelliByScaglione(id_scaglione)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getAppelliByStudenteScaglione(matricola, idScaglione)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getAppelloById(id)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appelloBelongsToTeacher(id_appello, docente)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DocenteDAO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getDocente(matricola)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loginDocente(matricola, password)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getScaglioni(matricola)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getDefaultScaglione(matricola)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IscrizioniDAO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isStudenteInScaglione(idScaglione, studente)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LaureaDAO</a:t>
            </a:r>
          </a:p>
          <a:p>
            <a:pPr lvl="1" marL="1555750" indent="-666750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getLaurea(id)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omponents -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Components - 2</a:t>
            </a:r>
          </a:p>
        </p:txBody>
      </p:sp>
      <p:sp>
        <p:nvSpPr>
          <p:cNvPr id="208" name="Data Access Objects (Classes)…"/>
          <p:cNvSpPr txBox="1"/>
          <p:nvPr/>
        </p:nvSpPr>
        <p:spPr>
          <a:xfrm>
            <a:off x="769822" y="3028950"/>
            <a:ext cx="10095508" cy="765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914400">
              <a:spcBef>
                <a:spcPts val="300"/>
              </a:spcBef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Data Access Objects (Classes)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EsameDAO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getEsame(matricola_studente, id_appello)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getEsamiByAppello(id_appello)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rifiuta(idAppello, matricola)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changeGrade(idAppello, matricola, voto)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pubblica(idAppello)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verbalizza(idAppello)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adjustRifiutatiGrade(idAppello)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gradePublished(idAppello matricola)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studentBelongsToAppello(idAppello, studente)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gradeCanBeRefused(idAppello, studente)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isGradeValid(grade)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getMatricoleWithStatePubblicato(id_appello)</a:t>
            </a:r>
          </a:p>
        </p:txBody>
      </p:sp>
      <p:sp>
        <p:nvSpPr>
          <p:cNvPr id="209" name="ScaglioneDAO…"/>
          <p:cNvSpPr txBox="1"/>
          <p:nvPr/>
        </p:nvSpPr>
        <p:spPr>
          <a:xfrm>
            <a:off x="11726256" y="2171698"/>
            <a:ext cx="12379752" cy="937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marL="1555750" indent="-666750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ScaglioneDAO</a:t>
            </a:r>
          </a:p>
          <a:p>
            <a:pPr lvl="1" marL="1555750" indent="-666750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getScaglioneById(id)</a:t>
            </a:r>
          </a:p>
          <a:p>
            <a:pPr lvl="1" marL="1555750" indent="-666750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getScaglioniByDocente(docente)</a:t>
            </a:r>
          </a:p>
          <a:p>
            <a:pPr lvl="1" marL="1555750" indent="-666750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scaglioneBelongsToTeacher(id_scaglione, docente)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StudenteDAO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getStudente(matricola)</a:t>
            </a:r>
          </a:p>
          <a:p>
            <a:pPr lvl="1" marL="1555750" indent="-666750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getCourseEnrollment(matricolaStudente)</a:t>
            </a:r>
          </a:p>
          <a:p>
            <a:pPr lvl="1" marL="1555750" indent="-666750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getExams(matricolaStudente, idScaglione)</a:t>
            </a:r>
          </a:p>
          <a:p>
            <a:pPr lvl="1" marL="1555750" indent="-666750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loginStudente(matricola, password)</a:t>
            </a:r>
          </a:p>
          <a:p>
            <a:pPr lvl="1" marL="1555750" indent="-666750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getVotiStudentiFromId_verbale(id_verbale)</a:t>
            </a:r>
          </a:p>
          <a:p>
            <a:pPr lvl="1" marL="800100" indent="-342900" algn="l" defTabSz="914400">
              <a:spcBef>
                <a:spcPts val="300"/>
              </a:spcBef>
              <a:buClr>
                <a:srgbClr val="000000"/>
              </a:buClr>
              <a:buSzPts val="4200"/>
              <a:buFont typeface="Arial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VerbaleDAO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getVerbaliById_appello(id_appello)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getVerbale(id)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createEmptyVerbale(id_appello)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populateStudentiVerbale(verbale)</a:t>
            </a:r>
          </a:p>
          <a:p>
            <a:pPr lvl="1" marL="1666875" indent="-777875" algn="l" defTabSz="914400">
              <a:spcBef>
                <a:spcPts val="300"/>
              </a:spcBef>
              <a:buSzPct val="100000"/>
              <a:buAutoNum type="arabicPeriod" startAt="1"/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verbaleBelongsToTeacher(idVerbale, docente)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Components - 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Components - 3</a:t>
            </a:r>
          </a:p>
        </p:txBody>
      </p:sp>
      <p:sp>
        <p:nvSpPr>
          <p:cNvPr id="212" name="Google Shape;267;p36"/>
          <p:cNvSpPr txBox="1"/>
          <p:nvPr/>
        </p:nvSpPr>
        <p:spPr>
          <a:xfrm>
            <a:off x="1102474" y="3765293"/>
            <a:ext cx="5769022" cy="2839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 algn="l" defTabSz="914400">
              <a:lnSpc>
                <a:spcPct val="80000"/>
              </a:lnSpc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Controllers (servlets)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EE230C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CheckLogin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GoToErrorPage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Logout</a:t>
            </a:r>
          </a:p>
        </p:txBody>
      </p:sp>
      <p:sp>
        <p:nvSpPr>
          <p:cNvPr id="213" name="Google Shape;267;p36"/>
          <p:cNvSpPr txBox="1"/>
          <p:nvPr/>
        </p:nvSpPr>
        <p:spPr>
          <a:xfrm>
            <a:off x="8006757" y="3765293"/>
            <a:ext cx="5988959" cy="47221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 algn="l" defTabSz="914400">
              <a:lnSpc>
                <a:spcPct val="80000"/>
              </a:lnSpc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Teacher Controllers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AssignGrade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GoToFormEsame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GoToIscrittiPage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GoToTeacherHP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GoToVerbalePage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Pubblica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Verbalizza</a:t>
            </a:r>
          </a:p>
        </p:txBody>
      </p:sp>
      <p:sp>
        <p:nvSpPr>
          <p:cNvPr id="214" name="Google Shape;267;p36"/>
          <p:cNvSpPr txBox="1"/>
          <p:nvPr/>
        </p:nvSpPr>
        <p:spPr>
          <a:xfrm>
            <a:off x="14958434" y="3765293"/>
            <a:ext cx="5988959" cy="2520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 algn="l" defTabSz="914400">
              <a:lnSpc>
                <a:spcPct val="80000"/>
              </a:lnSpc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Student Controllers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GoToEsitoPage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GoToStudentHP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Rifiuta</a:t>
            </a:r>
          </a:p>
        </p:txBody>
      </p:sp>
      <p:sp>
        <p:nvSpPr>
          <p:cNvPr id="215" name="Google Shape;267;p36"/>
          <p:cNvSpPr txBox="1"/>
          <p:nvPr/>
        </p:nvSpPr>
        <p:spPr>
          <a:xfrm>
            <a:off x="992505" y="8939710"/>
            <a:ext cx="5988960" cy="25207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 algn="l" defTabSz="914400">
              <a:lnSpc>
                <a:spcPct val="80000"/>
              </a:lnSpc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Views (templates)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index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ErrorPage</a:t>
            </a:r>
          </a:p>
        </p:txBody>
      </p:sp>
      <p:sp>
        <p:nvSpPr>
          <p:cNvPr id="216" name="Google Shape;267;p36"/>
          <p:cNvSpPr txBox="1"/>
          <p:nvPr/>
        </p:nvSpPr>
        <p:spPr>
          <a:xfrm>
            <a:off x="8006757" y="8939710"/>
            <a:ext cx="5988959" cy="4233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 algn="l" defTabSz="914400">
              <a:lnSpc>
                <a:spcPct val="80000"/>
              </a:lnSpc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Teacher views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HomepageDocente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IscrittiPage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FormEsame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VerbalePage</a:t>
            </a:r>
          </a:p>
        </p:txBody>
      </p:sp>
      <p:sp>
        <p:nvSpPr>
          <p:cNvPr id="217" name="Google Shape;267;p36"/>
          <p:cNvSpPr txBox="1"/>
          <p:nvPr/>
        </p:nvSpPr>
        <p:spPr>
          <a:xfrm>
            <a:off x="15021008" y="8939710"/>
            <a:ext cx="5988959" cy="42330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699" tIns="45699" rIns="45699" bIns="45699">
            <a:normAutofit fontScale="100000" lnSpcReduction="0"/>
          </a:bodyPr>
          <a:lstStyle/>
          <a:p>
            <a:pPr algn="l" defTabSz="914400">
              <a:lnSpc>
                <a:spcPct val="80000"/>
              </a:lnSpc>
              <a:defRPr b="1"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Student views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HomepageStudente</a:t>
            </a:r>
          </a:p>
          <a:p>
            <a:pPr lvl="1" marL="1143000" indent="-533400" algn="l" defTabSz="914400">
              <a:lnSpc>
                <a:spcPct val="80000"/>
              </a:lnSpc>
              <a:spcBef>
                <a:spcPts val="300"/>
              </a:spcBef>
              <a:buSzPct val="123000"/>
              <a:buChar char="•"/>
              <a:defRPr sz="420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EsitoPage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Logi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Login</a:t>
            </a:r>
          </a:p>
        </p:txBody>
      </p:sp>
      <p:pic>
        <p:nvPicPr>
          <p:cNvPr id="220" name="Login.png" descr="Logi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09487" y="2947441"/>
            <a:ext cx="18965025" cy="99064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Homepage Docen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999437">
              <a:defRPr spc="-164" sz="6232"/>
            </a:pPr>
            <a:r>
              <a:t>Homepage docente</a:t>
            </a:r>
            <a:br/>
            <a:r>
              <a:rPr b="0" sz="3607">
                <a:latin typeface="Helvetica Neue Medium"/>
                <a:ea typeface="Helvetica Neue Medium"/>
                <a:cs typeface="Helvetica Neue Medium"/>
                <a:sym typeface="Helvetica Neue Medium"/>
              </a:rPr>
              <a:t>docente</a:t>
            </a:r>
          </a:p>
        </p:txBody>
      </p:sp>
      <p:pic>
        <p:nvPicPr>
          <p:cNvPr id="223" name="Homepage docente.png" descr="Homepage docent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33122" y="2763782"/>
            <a:ext cx="19517756" cy="95628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Homepage studen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999437">
              <a:defRPr spc="-164" sz="6232"/>
            </a:pPr>
            <a:r>
              <a:t>Homepage studente</a:t>
            </a:r>
            <a:br/>
            <a:r>
              <a:rPr b="0" sz="3607">
                <a:latin typeface="Helvetica Neue Medium"/>
                <a:ea typeface="Helvetica Neue Medium"/>
                <a:cs typeface="Helvetica Neue Medium"/>
                <a:sym typeface="Helvetica Neue Medium"/>
              </a:rPr>
              <a:t>studente</a:t>
            </a:r>
          </a:p>
        </p:txBody>
      </p:sp>
      <p:pic>
        <p:nvPicPr>
          <p:cNvPr id="226" name="Homepage docente.png" descr="Homepage docente.png"/>
          <p:cNvPicPr>
            <a:picLocks noChangeAspect="1"/>
          </p:cNvPicPr>
          <p:nvPr/>
        </p:nvPicPr>
        <p:blipFill>
          <a:blip r:embed="rId2">
            <a:extLst/>
          </a:blip>
          <a:srcRect l="0" t="6407" r="0" b="0"/>
          <a:stretch>
            <a:fillRect/>
          </a:stretch>
        </p:blipFill>
        <p:spPr>
          <a:xfrm>
            <a:off x="2305438" y="2929812"/>
            <a:ext cx="19773123" cy="86843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Verbalizzazione esami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999437">
              <a:defRPr spc="-164" sz="6232"/>
            </a:pPr>
            <a:r>
              <a:t>Verbalizzazione esami</a:t>
            </a:r>
            <a:br/>
            <a:r>
              <a:rPr b="0" sz="3607">
                <a:latin typeface="Helvetica Neue Medium"/>
                <a:ea typeface="Helvetica Neue Medium"/>
                <a:cs typeface="Helvetica Neue Medium"/>
                <a:sym typeface="Helvetica Neue Medium"/>
              </a:rPr>
              <a:t>docente</a:t>
            </a:r>
          </a:p>
        </p:txBody>
      </p:sp>
      <p:pic>
        <p:nvPicPr>
          <p:cNvPr id="229" name="Verbalizzazione.png" descr="Verbalizzazion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67150" y="2763046"/>
            <a:ext cx="16649700" cy="10464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ifiuto della valutazio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1999437">
              <a:defRPr spc="-164" sz="6232"/>
            </a:pPr>
            <a:r>
              <a:t>Rifiuto della valutazione</a:t>
            </a:r>
            <a:br/>
            <a:r>
              <a:rPr b="0" sz="3607">
                <a:latin typeface="Helvetica Neue Medium"/>
                <a:ea typeface="Helvetica Neue Medium"/>
                <a:cs typeface="Helvetica Neue Medium"/>
                <a:sym typeface="Helvetica Neue Medium"/>
              </a:rPr>
              <a:t>studente</a:t>
            </a:r>
          </a:p>
        </p:txBody>
      </p:sp>
      <p:pic>
        <p:nvPicPr>
          <p:cNvPr id="232" name="RifiutaVoto.png" descr="RifiutaVot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88297" y="2806213"/>
            <a:ext cx="20807406" cy="97149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Logou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200"/>
            </a:lvl1pPr>
          </a:lstStyle>
          <a:p>
            <a:pPr/>
            <a:r>
              <a:t>Logout</a:t>
            </a:r>
          </a:p>
        </p:txBody>
      </p:sp>
      <p:pic>
        <p:nvPicPr>
          <p:cNvPr id="235" name="Logout.png" descr="Logou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23442" y="3128729"/>
            <a:ext cx="16337116" cy="91173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