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1D1"/>
          </a:solidFill>
        </a:fill>
      </a:tcStyle>
    </a:wholeTbl>
    <a:band2H>
      <a:tcTxStyle b="def" i="def"/>
      <a:tcStyle>
        <a:tcBdr/>
        <a:fill>
          <a:solidFill>
            <a:srgbClr val="E9E9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0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Agenda Topics</a:t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Body Level One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6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2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ommaso Giordano - Luca Olivieri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Tommaso Giordano - Luca Olivieri</a:t>
            </a:r>
          </a:p>
        </p:txBody>
      </p:sp>
      <p:sp>
        <p:nvSpPr>
          <p:cNvPr id="152" name="Verbalizzazione degli esami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 anchor="ctr"/>
          <a:lstStyle>
            <a:lvl1pPr algn="ctr">
              <a:defRPr spc="-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Verbalizzazione degli esami</a:t>
            </a:r>
          </a:p>
        </p:txBody>
      </p:sp>
      <p:sp>
        <p:nvSpPr>
          <p:cNvPr id="153" name="Web Technologies"/>
          <p:cNvSpPr txBox="1"/>
          <p:nvPr/>
        </p:nvSpPr>
        <p:spPr>
          <a:xfrm>
            <a:off x="1206500" y="8950428"/>
            <a:ext cx="21971000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defTabSz="825500">
              <a:defRPr b="1" sz="55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Web Technologies</a:t>
            </a:r>
          </a:p>
        </p:txBody>
      </p:sp>
      <p:sp>
        <p:nvSpPr>
          <p:cNvPr id="154" name="JavaScript version"/>
          <p:cNvSpPr txBox="1"/>
          <p:nvPr/>
        </p:nvSpPr>
        <p:spPr>
          <a:xfrm>
            <a:off x="1206500" y="6707747"/>
            <a:ext cx="21971000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defTabSz="825500">
              <a:defRPr b="1" sz="7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JavaScript version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pecifications -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Specifications - 1</a:t>
            </a:r>
          </a:p>
        </p:txBody>
      </p:sp>
      <p:sp>
        <p:nvSpPr>
          <p:cNvPr id="157" name="Un’applicazione permette di verbalizzare gli esiti degli esami di un appello. Il docente accede tramite login e seleziona nella HOME page un corso da una lista dei propri corsi ordinata in modo alfabetico decrescente e poi una data d’appello del corso sc"/>
          <p:cNvSpPr txBox="1"/>
          <p:nvPr>
            <p:ph type="body" idx="1"/>
          </p:nvPr>
        </p:nvSpPr>
        <p:spPr>
          <a:xfrm>
            <a:off x="1206500" y="2873811"/>
            <a:ext cx="21971000" cy="9268497"/>
          </a:xfrm>
          <a:prstGeom prst="rect">
            <a:avLst/>
          </a:prstGeom>
        </p:spPr>
        <p:txBody>
          <a:bodyPr lIns="50800" tIns="50800" rIns="50800" bIns="50800" anchor="ctr"/>
          <a:lstStyle>
            <a:lvl1pPr algn="just" defTabSz="457200">
              <a:lnSpc>
                <a:spcPct val="110000"/>
              </a:lnSpc>
              <a:spcBef>
                <a:spcPts val="1200"/>
              </a:spcBef>
              <a:defRPr b="0" sz="3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Un’applicazione permette di verbalizzare gli esiti degli esami di un appello. Il docente accede tramite login e seleziona nella HOME page un corso da una lista dei propri corsi ordinata in modo alfabetico decrescente e poi una data d’appello del corso scelto selezionata da un elenco ordinato per data decrescente. Ogni corso ha un solo docente. La selezione dell’appello porta a una pagina ISCRITTI, che mostra una tabella con tutti gli iscritti all’appello. La tabella riporta i seguenti dati: matricola, cognome e nome, email, corso di laurea, voto e stato di valutazione. Il voto può non essere ancora definito. Lo stato di valutazione dello studente rispetto all’appello può assumere i valori: non inserito, inserito, pubblicato, rifiutato e verbalizzato. Selezionando un’etichetta nell’intestazione della tabella, l’utente ordina le righe in base al valore di tale etichetta (ad esempio, selezionando “cognome” la tabella è riordinata in base al cognome). Successive selezioni della stessa etichetta invertono l’ordinamento: si parte con l’ordinamento crescente. Il valore del voto viene considerato ordinato nel modo seguente: &lt;vuoto&gt;, assente, rimandato, riprovato, 18, 19, ..., 30, 30 e lode. Nella tabella della pagina ISCRITTI ad ogni riga corrisponde un bottone “MODIFICA”. Premendo il bottone compare una pagina con una form che mostra tutti i dati dello studente selezionato e un campo di input in cui è possibile scegliere il voto. L’invio della form provoca la modifica o l’inserimento del voto. Inizialmente le righe sono nello stato di valutazione “non inserito”. L’inserimento e le successive eventuali modifiche portano la riga nello stato di valutazione “inserito”. Alla tabella della pagina ISCRITTI è associato un bottone PUBBLICA che comporta la pubblicazione delle righe con lo stato di valutazione INSERITO.</a:t>
            </a:r>
          </a:p>
        </p:txBody>
      </p:sp>
      <p:sp>
        <p:nvSpPr>
          <p:cNvPr id="158" name="Slide Number"/>
          <p:cNvSpPr txBox="1"/>
          <p:nvPr>
            <p:ph type="sldNum" sz="quarter" idx="4294967295"/>
          </p:nvPr>
        </p:nvSpPr>
        <p:spPr>
          <a:xfrm>
            <a:off x="12065033" y="13074597"/>
            <a:ext cx="241437" cy="381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pecifications -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Specifications - 2</a:t>
            </a:r>
          </a:p>
        </p:txBody>
      </p:sp>
      <p:sp>
        <p:nvSpPr>
          <p:cNvPr id="161" name="La pubblicazione rende il voto non più modificabile dal docente e visibile allo studente e cambia lo stato di valutazione della riga dello studente a “pubblicato”. Lo studente accede tramite login e seleziona nella HOME page un corso tra quelli a cui è i"/>
          <p:cNvSpPr txBox="1"/>
          <p:nvPr>
            <p:ph type="body" idx="1"/>
          </p:nvPr>
        </p:nvSpPr>
        <p:spPr>
          <a:xfrm>
            <a:off x="1206500" y="2873811"/>
            <a:ext cx="21971000" cy="9268497"/>
          </a:xfrm>
          <a:prstGeom prst="rect">
            <a:avLst/>
          </a:prstGeom>
        </p:spPr>
        <p:txBody>
          <a:bodyPr lIns="50800" tIns="50800" rIns="50800" bIns="50800" anchor="ctr"/>
          <a:lstStyle>
            <a:lvl1pPr algn="just" defTabSz="457200">
              <a:lnSpc>
                <a:spcPct val="110000"/>
              </a:lnSpc>
              <a:spcBef>
                <a:spcPts val="1200"/>
              </a:spcBef>
              <a:defRPr b="0" sz="3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La pubblicazione rende il voto non più modificabile dal docente e visibile allo studente e cambia lo stato di valutazione della riga dello studente a “pubblicato”. Lo studente accede tramite login e seleziona nella HOME page un corso tra quelli a cui è iscritto mediante una lista ordinata in modo alfabetico decrescente e poi una data d’appello del corso scelto selezionata da un elenco ordinato per data decrescente. Uno studente può essere iscritto a più appelli dello stesso corso. La selezione della data d’appello porta a una pagina ESITO che mostra il messaggio “Voto non ancora definito” se il docente non ha ancora pubblicato il risultato per quello studente in quell’appello. Altrimenti, la pagina mostra i dati dello studente, del corso, dell’appello e il voto assegnato. Se il voto è tra 18 e 30 e lode compare un bottone RIFIUTA. Premendo tale bottone la pagina mostra gli stessi dati con la dizione aggiunta “Il voto è stato rifiutato” e senza il bottone RIFIUTA. Il rifiuto del voto cambia lo stato di valutazione a “rifiutato” della riga dello studente per quell’appello nella pagina ISCRITTI del docente. Nella pagina ISCRITTI del docente la tabella degli iscritti è associata anche a un bottone VERBALIZZA. La pressione del bottone provoca il cambio di stato a “verbalizzato” per le righe nello stato “pubblicato” o "rifiutato" e comporta anche la creazione di un verbale e la disabilitazione della possibilità di rifiutare il voto. Il rifiuto implica la verbalizzazione di “rimandato” come voto. Un verbale ha un codice generato dal sistema, una data e ora di creazione ed è associato all’appello del corso a cui si riferisce e agli studenti (con nome, cognome, matricola e voto) che passano allo stato “verbalizzato”. A seguito della pressione del bottone VERBALIZZA compare una pagina VERBALE che mostra i dati completi del verbale creato.</a:t>
            </a:r>
          </a:p>
        </p:txBody>
      </p:sp>
      <p:sp>
        <p:nvSpPr>
          <p:cNvPr id="162" name="Slide Number"/>
          <p:cNvSpPr txBox="1"/>
          <p:nvPr>
            <p:ph type="sldNum" sz="quarter" idx="4294967295"/>
          </p:nvPr>
        </p:nvSpPr>
        <p:spPr>
          <a:xfrm>
            <a:off x="12065033" y="13074597"/>
            <a:ext cx="241437" cy="381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Database analysis of specs -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pc="-200" sz="8400">
                <a:latin typeface="+mn-lt"/>
                <a:ea typeface="+mn-ea"/>
                <a:cs typeface="+mn-cs"/>
                <a:sym typeface="Helvetica"/>
              </a:defRPr>
            </a:pPr>
            <a:r>
              <a:t>Database analysis of specs</a:t>
            </a:r>
            <a:r>
              <a:rPr sz="8500"/>
              <a:t> - 1</a:t>
            </a:r>
          </a:p>
        </p:txBody>
      </p:sp>
      <p:sp>
        <p:nvSpPr>
          <p:cNvPr id="165" name="Un’applicazione permette di verbalizzare gli esiti degli esami di un appello. Il docente accede tramite login e seleziona nella HOME page un corso da una lista dei propri corsi ordinata in modo alfabetico decrescente e poi una data d’appello del corso sc"/>
          <p:cNvSpPr txBox="1"/>
          <p:nvPr>
            <p:ph type="body" idx="1"/>
          </p:nvPr>
        </p:nvSpPr>
        <p:spPr>
          <a:xfrm>
            <a:off x="1206500" y="3324050"/>
            <a:ext cx="21971000" cy="926849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just" defTabSz="457200">
              <a:lnSpc>
                <a:spcPct val="110000"/>
              </a:lnSpc>
              <a:spcBef>
                <a:spcPts val="1200"/>
              </a:spcBef>
              <a:defRPr b="0" sz="3200">
                <a:latin typeface="+mn-lt"/>
                <a:ea typeface="+mn-ea"/>
                <a:cs typeface="+mn-cs"/>
                <a:sym typeface="Helvetica"/>
              </a:defRPr>
            </a:pPr>
            <a:r>
              <a:t>Un’applicazione permette di verbalizzare gli esiti degli esami di un </a:t>
            </a:r>
            <a:r>
              <a:rPr>
                <a:solidFill>
                  <a:srgbClr val="EE230C"/>
                </a:solidFill>
              </a:rPr>
              <a:t>appello</a:t>
            </a:r>
            <a:r>
              <a:t>. Il </a:t>
            </a:r>
            <a:r>
              <a:rPr>
                <a:solidFill>
                  <a:srgbClr val="EE230C"/>
                </a:solidFill>
              </a:rPr>
              <a:t>docente</a:t>
            </a:r>
            <a:r>
              <a:t> accede tramite login e seleziona nella HOME page un </a:t>
            </a:r>
            <a:r>
              <a:rPr>
                <a:solidFill>
                  <a:srgbClr val="EE230C"/>
                </a:solidFill>
              </a:rPr>
              <a:t>corso</a:t>
            </a:r>
            <a:r>
              <a:t> da una lista dei propri corsi ordinata in modo alfabetico decrescente e poi una </a:t>
            </a:r>
            <a:r>
              <a:rPr>
                <a:solidFill>
                  <a:srgbClr val="1EB001"/>
                </a:solidFill>
              </a:rPr>
              <a:t>data d’appello</a:t>
            </a:r>
            <a:r>
              <a:t> del </a:t>
            </a:r>
            <a:r>
              <a:rPr>
                <a:solidFill>
                  <a:srgbClr val="EE230C"/>
                </a:solidFill>
              </a:rPr>
              <a:t>corso</a:t>
            </a:r>
            <a:r>
              <a:t> scelto selezionata da un elenco ordinato per data decrescente. </a:t>
            </a:r>
            <a:r>
              <a:rPr>
                <a:solidFill>
                  <a:srgbClr val="0076BA"/>
                </a:solidFill>
              </a:rPr>
              <a:t>Ogni corso ha un solo docente</a:t>
            </a:r>
            <a:r>
              <a:t>. La selezione dell’appello porta a una pagina ISCRITTI, che mostra una tabella con tutti gli </a:t>
            </a:r>
            <a:r>
              <a:rPr>
                <a:solidFill>
                  <a:srgbClr val="0076BA"/>
                </a:solidFill>
              </a:rPr>
              <a:t>iscritti all’appello</a:t>
            </a:r>
            <a:r>
              <a:t>. La tabella riporta i seguenti dati: </a:t>
            </a:r>
            <a:r>
              <a:rPr>
                <a:solidFill>
                  <a:srgbClr val="1EB001"/>
                </a:solidFill>
              </a:rPr>
              <a:t>matricola</a:t>
            </a:r>
            <a:r>
              <a:t>, </a:t>
            </a:r>
            <a:r>
              <a:rPr>
                <a:solidFill>
                  <a:srgbClr val="1EB001"/>
                </a:solidFill>
              </a:rPr>
              <a:t>cognome</a:t>
            </a:r>
            <a:r>
              <a:t> e </a:t>
            </a:r>
            <a:r>
              <a:rPr>
                <a:solidFill>
                  <a:srgbClr val="1EB001"/>
                </a:solidFill>
              </a:rPr>
              <a:t>nome</a:t>
            </a:r>
            <a:r>
              <a:t>, </a:t>
            </a:r>
            <a:r>
              <a:rPr>
                <a:solidFill>
                  <a:srgbClr val="1EB001"/>
                </a:solidFill>
              </a:rPr>
              <a:t>email</a:t>
            </a:r>
            <a:r>
              <a:t>, </a:t>
            </a:r>
            <a:r>
              <a:rPr>
                <a:solidFill>
                  <a:srgbClr val="1EB001"/>
                </a:solidFill>
              </a:rPr>
              <a:t>corso di laurea</a:t>
            </a:r>
            <a:r>
              <a:t>, </a:t>
            </a:r>
            <a:r>
              <a:rPr>
                <a:solidFill>
                  <a:srgbClr val="1EB001"/>
                </a:solidFill>
              </a:rPr>
              <a:t>voto</a:t>
            </a:r>
            <a:r>
              <a:t> e </a:t>
            </a:r>
            <a:r>
              <a:rPr>
                <a:solidFill>
                  <a:srgbClr val="1EB001"/>
                </a:solidFill>
              </a:rPr>
              <a:t>stato di valutazione</a:t>
            </a:r>
            <a:r>
              <a:t>. Il voto può non essere ancora definito. Lo </a:t>
            </a:r>
            <a:r>
              <a:rPr>
                <a:solidFill>
                  <a:srgbClr val="EE230C"/>
                </a:solidFill>
              </a:rPr>
              <a:t>stato di valutazione</a:t>
            </a:r>
            <a:r>
              <a:t> dello </a:t>
            </a:r>
            <a:r>
              <a:rPr>
                <a:solidFill>
                  <a:srgbClr val="EE230C"/>
                </a:solidFill>
              </a:rPr>
              <a:t>studente</a:t>
            </a:r>
            <a:r>
              <a:t> </a:t>
            </a:r>
            <a:r>
              <a:rPr>
                <a:solidFill>
                  <a:srgbClr val="0076BA"/>
                </a:solidFill>
              </a:rPr>
              <a:t>rispetto all’appello</a:t>
            </a:r>
            <a:r>
              <a:t> può assumere i valori: non inserito, inserito, pubblicato, rifiutato e verbalizzato. Selezionando un’etichetta nell’intestazione della tabella, l’utente ordina le righe in base al valore di tale etichetta (ad esempio, selezionando “cognome” la tabella è riordinata in base al cognome). Successive selezioni della stessa etichetta invertono l’ordinamento: si parte con l’ordinamento crescente. Il valore del </a:t>
            </a:r>
            <a:r>
              <a:rPr>
                <a:solidFill>
                  <a:srgbClr val="EE230C"/>
                </a:solidFill>
              </a:rPr>
              <a:t>voto</a:t>
            </a:r>
            <a:r>
              <a:t> viene considerato ordinato nel modo seguente: &lt;vuoto&gt;, assente, rimandato, riprovato, 18, 19, ..., 30, 30 e lode. Nella tabella della pagina ISCRITTI ad ogni riga corrisponde un bottone “MODIFICA”. Premendo il bottone compare una pagina con una form che mostra tutti i dati dello studente selezionato e un campo di input in cui è possibile scegliere il voto. L’invio della form provoca la modifica o l’inserimento del voto. Inizialmente le righe sono nello stato di valutazione “non inserito”. L’inserimento e le successive eventuali modifiche portano la riga nello stato di valutazione “inserito”. Alla tabella della pagina ISCRITTI è associato un bottone PUBBLICA che comporta la pubblicazione delle righe con lo stato di valutazione INSERITO. La pubblicazione rende il voto non più modificabile dal docente e visibile allo studente e cambia lo stato di valutazione della riga dello studente a “pubblicato”.</a:t>
            </a:r>
          </a:p>
        </p:txBody>
      </p:sp>
      <p:sp>
        <p:nvSpPr>
          <p:cNvPr id="166" name="Entities - attributes - relationships"/>
          <p:cNvSpPr txBox="1"/>
          <p:nvPr/>
        </p:nvSpPr>
        <p:spPr>
          <a:xfrm>
            <a:off x="1206500" y="2355185"/>
            <a:ext cx="21971000" cy="934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l" defTabSz="825500">
              <a:defRPr b="1" sz="4800">
                <a:solidFill>
                  <a:srgbClr val="EE230C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Entities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1EB001"/>
                </a:solidFill>
              </a:rPr>
              <a:t>attributes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0076BA"/>
                </a:solidFill>
              </a:rPr>
              <a:t>relationships</a:t>
            </a:r>
          </a:p>
        </p:txBody>
      </p:sp>
      <p:sp>
        <p:nvSpPr>
          <p:cNvPr id="167" name="Slide Number"/>
          <p:cNvSpPr txBox="1"/>
          <p:nvPr>
            <p:ph type="sldNum" sz="quarter" idx="4294967295"/>
          </p:nvPr>
        </p:nvSpPr>
        <p:spPr>
          <a:xfrm>
            <a:off x="12065033" y="13074597"/>
            <a:ext cx="241437" cy="381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Database analysis of specs -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 sz="8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Database analysis of specs - 2</a:t>
            </a:r>
          </a:p>
        </p:txBody>
      </p:sp>
      <p:sp>
        <p:nvSpPr>
          <p:cNvPr id="170" name="Lo studente accede tramite login e seleziona nella HOME page un corso tra quelli a cui è iscritto mediante una lista ordinata in modo alfabetico decrescente e poi una data d’appello del corso scelto selezionata da un elenco ordinato per data decrescente."/>
          <p:cNvSpPr txBox="1"/>
          <p:nvPr>
            <p:ph type="body" idx="1"/>
          </p:nvPr>
        </p:nvSpPr>
        <p:spPr>
          <a:xfrm>
            <a:off x="1206500" y="3162583"/>
            <a:ext cx="21971000" cy="926849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just" defTabSz="457200">
              <a:lnSpc>
                <a:spcPct val="110000"/>
              </a:lnSpc>
              <a:spcBef>
                <a:spcPts val="1200"/>
              </a:spcBef>
              <a:defRPr b="0" sz="3300">
                <a:latin typeface="+mn-lt"/>
                <a:ea typeface="+mn-ea"/>
                <a:cs typeface="+mn-cs"/>
                <a:sym typeface="Helvetica"/>
              </a:defRPr>
            </a:pPr>
            <a:r>
              <a:t>Lo studente accede tramite login e seleziona nella HOME page un </a:t>
            </a:r>
            <a:r>
              <a:rPr>
                <a:solidFill>
                  <a:srgbClr val="0076BA"/>
                </a:solidFill>
              </a:rPr>
              <a:t>corso tra quelli a cui è iscritto</a:t>
            </a:r>
            <a:r>
              <a:t> mediante una lista ordinata in modo alfabetico decrescente e poi una data d’appello del corso scelto selezionata da un elenco ordinato per data decrescente. Uno studente può essere iscritto a </a:t>
            </a:r>
            <a:r>
              <a:rPr>
                <a:solidFill>
                  <a:srgbClr val="0076BA"/>
                </a:solidFill>
              </a:rPr>
              <a:t>più appelli dello stesso corso</a:t>
            </a:r>
            <a:r>
              <a:t>. La selezione della data d’appello porta a una pagina ESITO che mostra il messaggio “Voto non ancora definito” se il docente non ha ancora pubblicato il risultato per quello studente in quell’appello. Altrimenti, la pagina mostra i dati dello studente, del corso, dell’appello e il voto assegnato. Se il voto è tra 18 e 30 e lode compare un bottone RIFIUTA. Premendo tale bottone la pagina mostra gli stessi dati con la dizione aggiunta “Il voto è stato rifiutato” e senza il bottone RIFIUTA. Il rifiuto del voto cambia lo stato di valutazione a “rifiutato” della riga dello studente per quell’appello nella pagina ISCRITTI del docente. Nella pagina ISCRITTI del docente la tabella degli iscritti è associata anche a un bottone VERBALIZZA. La pressione del bottone provoca il cambio di stato a “verbalizzato” per le righe nello stato “pubblicato” o "rifiutato" e comporta anche la creazione di un </a:t>
            </a:r>
            <a:r>
              <a:rPr>
                <a:solidFill>
                  <a:srgbClr val="EE230C"/>
                </a:solidFill>
              </a:rPr>
              <a:t>verbale</a:t>
            </a:r>
            <a:r>
              <a:t> e la disabilitazione della possibilità di rifiutare il voto. Il rifiuto implica la verbalizzazione di “rimandato” come voto. Un verbale ha un </a:t>
            </a:r>
            <a:r>
              <a:rPr>
                <a:solidFill>
                  <a:srgbClr val="1EB001"/>
                </a:solidFill>
              </a:rPr>
              <a:t>codice generato dal sistema</a:t>
            </a:r>
            <a:r>
              <a:t>, una </a:t>
            </a:r>
            <a:r>
              <a:rPr>
                <a:solidFill>
                  <a:srgbClr val="1EB001"/>
                </a:solidFill>
              </a:rPr>
              <a:t>data</a:t>
            </a:r>
            <a:r>
              <a:t> e </a:t>
            </a:r>
            <a:r>
              <a:rPr>
                <a:solidFill>
                  <a:srgbClr val="1EB001"/>
                </a:solidFill>
              </a:rPr>
              <a:t>ora di creazione</a:t>
            </a:r>
            <a:r>
              <a:t> ed è </a:t>
            </a:r>
            <a:r>
              <a:rPr>
                <a:solidFill>
                  <a:srgbClr val="0076BA"/>
                </a:solidFill>
              </a:rPr>
              <a:t>associato all’appello del corso</a:t>
            </a:r>
            <a:r>
              <a:t> </a:t>
            </a:r>
            <a:r>
              <a:rPr>
                <a:solidFill>
                  <a:srgbClr val="0076BA"/>
                </a:solidFill>
              </a:rPr>
              <a:t>a cui si riferisce e agli</a:t>
            </a:r>
            <a:r>
              <a:t> </a:t>
            </a:r>
            <a:r>
              <a:rPr>
                <a:solidFill>
                  <a:srgbClr val="0076BA"/>
                </a:solidFill>
              </a:rPr>
              <a:t>studenti</a:t>
            </a:r>
            <a:r>
              <a:t> (con nome, cognome, matricola e voto) che passano allo stato “verbalizzato”. A seguito della pressione del bottone VERBALIZZA compare una pagina VERBALE che mostra i dati completi del verbale creato.</a:t>
            </a:r>
          </a:p>
        </p:txBody>
      </p:sp>
      <p:sp>
        <p:nvSpPr>
          <p:cNvPr id="171" name="Entities - attributes - relationships"/>
          <p:cNvSpPr txBox="1"/>
          <p:nvPr/>
        </p:nvSpPr>
        <p:spPr>
          <a:xfrm>
            <a:off x="1206500" y="2355185"/>
            <a:ext cx="21971000" cy="934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l" defTabSz="825500">
              <a:defRPr b="1" sz="4800">
                <a:solidFill>
                  <a:srgbClr val="EE230C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Entities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1EB001"/>
                </a:solidFill>
              </a:rPr>
              <a:t>attributes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0076BA"/>
                </a:solidFill>
              </a:rPr>
              <a:t>relationships</a:t>
            </a:r>
          </a:p>
        </p:txBody>
      </p:sp>
      <p:sp>
        <p:nvSpPr>
          <p:cNvPr id="172" name="Slide Number"/>
          <p:cNvSpPr txBox="1"/>
          <p:nvPr>
            <p:ph type="sldNum" sz="quarter" idx="4294967295"/>
          </p:nvPr>
        </p:nvSpPr>
        <p:spPr>
          <a:xfrm>
            <a:off x="12065033" y="13074597"/>
            <a:ext cx="241437" cy="381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Website analysis of specs -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pc="-200" sz="8400">
                <a:latin typeface="+mn-lt"/>
                <a:ea typeface="+mn-ea"/>
                <a:cs typeface="+mn-cs"/>
                <a:sym typeface="Helvetica"/>
              </a:defRPr>
            </a:pPr>
            <a:r>
              <a:t>Website analysis of specs</a:t>
            </a:r>
            <a:r>
              <a:rPr sz="8500"/>
              <a:t> - 1</a:t>
            </a:r>
          </a:p>
        </p:txBody>
      </p:sp>
      <p:sp>
        <p:nvSpPr>
          <p:cNvPr id="175" name="Un’applicazione permette di verbalizzare gli esiti degli esami di un appello. Il docente accede tramite login e seleziona nella HOME page un corso da una lista dei propri corsi ordinata in modo alfabetico decrescente e poi una data d’appello del corso sc"/>
          <p:cNvSpPr txBox="1"/>
          <p:nvPr>
            <p:ph type="body" idx="1"/>
          </p:nvPr>
        </p:nvSpPr>
        <p:spPr>
          <a:xfrm>
            <a:off x="1206500" y="3324050"/>
            <a:ext cx="21971000" cy="926849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just" defTabSz="457200">
              <a:lnSpc>
                <a:spcPct val="110000"/>
              </a:lnSpc>
              <a:spcBef>
                <a:spcPts val="1200"/>
              </a:spcBef>
              <a:defRPr b="0" sz="3200">
                <a:latin typeface="+mn-lt"/>
                <a:ea typeface="+mn-ea"/>
                <a:cs typeface="+mn-cs"/>
                <a:sym typeface="Helvetica"/>
              </a:defRPr>
            </a:pPr>
            <a:r>
              <a:t>Un’applicazione permette di verbalizzare gli esiti degli esami di un appello. </a:t>
            </a:r>
            <a:r>
              <a:rPr>
                <a:solidFill>
                  <a:srgbClr val="0076BA"/>
                </a:solidFill>
              </a:rPr>
              <a:t>Il docente accede tramite login</a:t>
            </a:r>
            <a:r>
              <a:t> e </a:t>
            </a:r>
            <a:r>
              <a:rPr>
                <a:solidFill>
                  <a:srgbClr val="0076BA"/>
                </a:solidFill>
              </a:rPr>
              <a:t>seleziona</a:t>
            </a:r>
            <a:r>
              <a:t> nella </a:t>
            </a:r>
            <a:r>
              <a:rPr>
                <a:solidFill>
                  <a:srgbClr val="EE230C"/>
                </a:solidFill>
              </a:rPr>
              <a:t>HOME</a:t>
            </a:r>
            <a:r>
              <a:t> page un corso da una </a:t>
            </a:r>
            <a:r>
              <a:rPr>
                <a:solidFill>
                  <a:srgbClr val="1EB001"/>
                </a:solidFill>
              </a:rPr>
              <a:t>lista dei propri corsi ordinata</a:t>
            </a:r>
            <a:r>
              <a:t> in modo alfabetico decrescente e poi una </a:t>
            </a:r>
            <a:r>
              <a:rPr>
                <a:solidFill>
                  <a:srgbClr val="1EB001"/>
                </a:solidFill>
              </a:rPr>
              <a:t>data d’appello del corso scelto selezionata da un elenco</a:t>
            </a:r>
            <a:r>
              <a:t> ordinato per data decrescente. Ogni corso ha un solo docente. </a:t>
            </a:r>
            <a:r>
              <a:rPr>
                <a:solidFill>
                  <a:srgbClr val="0076BA"/>
                </a:solidFill>
              </a:rPr>
              <a:t>La selezione dell’appello</a:t>
            </a:r>
            <a:r>
              <a:t> </a:t>
            </a:r>
            <a:r>
              <a:rPr>
                <a:solidFill>
                  <a:srgbClr val="F27100"/>
                </a:solidFill>
              </a:rPr>
              <a:t>porta a una pagina</a:t>
            </a:r>
            <a:r>
              <a:t> </a:t>
            </a:r>
            <a:r>
              <a:rPr>
                <a:solidFill>
                  <a:srgbClr val="EE230C"/>
                </a:solidFill>
              </a:rPr>
              <a:t>ISCRITTI</a:t>
            </a:r>
            <a:r>
              <a:t>, che mostra una </a:t>
            </a:r>
            <a:r>
              <a:rPr>
                <a:solidFill>
                  <a:srgbClr val="1EB001"/>
                </a:solidFill>
              </a:rPr>
              <a:t>tabella con tutti gli iscritti all’appello</a:t>
            </a:r>
            <a:r>
              <a:t>. La tabella riporta i seguenti dati: matricola, cognome e nome, email, corso di laurea, voto e stato di valutazione. Il voto può non essere ancora definito. Lo stato di valutazione dello studente rispetto all’appello può assumere i valori: non inserito, inserito, pubblicato, rifiutato e verbalizzato. </a:t>
            </a:r>
            <a:r>
              <a:rPr>
                <a:solidFill>
                  <a:srgbClr val="0076BA"/>
                </a:solidFill>
              </a:rPr>
              <a:t>Selezionando</a:t>
            </a:r>
            <a:r>
              <a:t> </a:t>
            </a:r>
            <a:r>
              <a:rPr>
                <a:solidFill>
                  <a:srgbClr val="1EB001"/>
                </a:solidFill>
              </a:rPr>
              <a:t>un’etichetta</a:t>
            </a:r>
            <a:r>
              <a:t> nell’intestazione della tabella, l’utente </a:t>
            </a:r>
            <a:r>
              <a:rPr>
                <a:solidFill>
                  <a:srgbClr val="F27100"/>
                </a:solidFill>
              </a:rPr>
              <a:t>ordina le righe</a:t>
            </a:r>
            <a:r>
              <a:t> in base al valore di tale etichetta (ad esempio, selezionando “cognome” la tabella è riordinata in base al cognome). Successive </a:t>
            </a:r>
            <a:r>
              <a:rPr>
                <a:solidFill>
                  <a:srgbClr val="0076BA"/>
                </a:solidFill>
              </a:rPr>
              <a:t>selezioni</a:t>
            </a:r>
            <a:r>
              <a:t> della stessa etichetta </a:t>
            </a:r>
            <a:r>
              <a:rPr>
                <a:solidFill>
                  <a:srgbClr val="F27100"/>
                </a:solidFill>
              </a:rPr>
              <a:t>invertono l’ordinamento</a:t>
            </a:r>
            <a:r>
              <a:t>: si parte con l’ordinamento crescente. Il valore del voto viene considerato ordinato nel modo seguente: &lt;vuoto&gt;, assente, rimandato, riprovato, 18, 19, ..., 30, 30 e lode. Nella tabella della pagina ISCRITTI ad ogni riga corrisponde un </a:t>
            </a:r>
            <a:r>
              <a:rPr>
                <a:solidFill>
                  <a:srgbClr val="1EB001"/>
                </a:solidFill>
              </a:rPr>
              <a:t>bottone “MODIFICA”</a:t>
            </a:r>
            <a:r>
              <a:t>. </a:t>
            </a:r>
            <a:r>
              <a:rPr>
                <a:solidFill>
                  <a:srgbClr val="0076BA"/>
                </a:solidFill>
              </a:rPr>
              <a:t>Premendo il bottone</a:t>
            </a:r>
            <a:r>
              <a:t> compare una </a:t>
            </a:r>
            <a:r>
              <a:rPr>
                <a:solidFill>
                  <a:srgbClr val="EE230C"/>
                </a:solidFill>
              </a:rPr>
              <a:t>pagina con una form</a:t>
            </a:r>
            <a:r>
              <a:t> che mostra tutti i dati dello studente selezionato e un campo di input in cui è possibile scegliere il voto. </a:t>
            </a:r>
            <a:r>
              <a:rPr>
                <a:solidFill>
                  <a:srgbClr val="0076BA"/>
                </a:solidFill>
              </a:rPr>
              <a:t>L’invio della form</a:t>
            </a:r>
            <a:r>
              <a:t> provoca la </a:t>
            </a:r>
            <a:r>
              <a:rPr>
                <a:solidFill>
                  <a:srgbClr val="F27100"/>
                </a:solidFill>
              </a:rPr>
              <a:t>modifica o l’inserimento del voto</a:t>
            </a:r>
            <a:r>
              <a:t>. Inizialmente le righe sono nello stato di valutazione “non inserito”. L’inserimento e le successive eventuali modifiche </a:t>
            </a:r>
            <a:r>
              <a:rPr>
                <a:solidFill>
                  <a:srgbClr val="F27100"/>
                </a:solidFill>
              </a:rPr>
              <a:t>portano la riga nello stato di valutazione “inserito”</a:t>
            </a:r>
            <a:r>
              <a:t>. Alla tabella della pagina ISCRITTI è associato un </a:t>
            </a:r>
            <a:r>
              <a:rPr>
                <a:solidFill>
                  <a:srgbClr val="1EB001"/>
                </a:solidFill>
              </a:rPr>
              <a:t>bottone “PUBBLICA”</a:t>
            </a:r>
            <a:r>
              <a:t> che comporta la </a:t>
            </a:r>
            <a:r>
              <a:rPr>
                <a:solidFill>
                  <a:srgbClr val="F27100"/>
                </a:solidFill>
              </a:rPr>
              <a:t>pubblicazione delle righe con lo stato di valutazione INSERITO</a:t>
            </a:r>
            <a:r>
              <a:t>. La pubblicazione rende il voto non più modificabile dal docente e visibile allo studente e cambia lo stato di valutazione della riga dello studente a “pubblicato”.</a:t>
            </a:r>
          </a:p>
        </p:txBody>
      </p:sp>
      <p:sp>
        <p:nvSpPr>
          <p:cNvPr id="176" name="Pages - View components - Events - Actions"/>
          <p:cNvSpPr txBox="1"/>
          <p:nvPr/>
        </p:nvSpPr>
        <p:spPr>
          <a:xfrm>
            <a:off x="1206500" y="2355185"/>
            <a:ext cx="21971000" cy="934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l" defTabSz="825500">
              <a:defRPr b="1" sz="4800">
                <a:solidFill>
                  <a:srgbClr val="EE230C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Pages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1EB001"/>
                </a:solidFill>
              </a:rPr>
              <a:t>View components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0076BA"/>
                </a:solidFill>
              </a:rPr>
              <a:t>Events </a:t>
            </a:r>
            <a:r>
              <a:rPr>
                <a:solidFill>
                  <a:srgbClr val="000000"/>
                </a:solidFill>
              </a:rPr>
              <a:t>- </a:t>
            </a:r>
            <a:r>
              <a:rPr>
                <a:solidFill>
                  <a:srgbClr val="F27100"/>
                </a:solidFill>
              </a:rPr>
              <a:t>Actions</a:t>
            </a:r>
          </a:p>
        </p:txBody>
      </p:sp>
      <p:sp>
        <p:nvSpPr>
          <p:cNvPr id="177" name="Slide Number"/>
          <p:cNvSpPr txBox="1"/>
          <p:nvPr>
            <p:ph type="sldNum" sz="quarter" idx="4294967295"/>
          </p:nvPr>
        </p:nvSpPr>
        <p:spPr>
          <a:xfrm>
            <a:off x="12065033" y="13074597"/>
            <a:ext cx="241437" cy="381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Website analysis of specs -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 sz="8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Website analysis of specs - 2</a:t>
            </a:r>
          </a:p>
        </p:txBody>
      </p:sp>
      <p:sp>
        <p:nvSpPr>
          <p:cNvPr id="180" name="Lo studente accede tramite login e seleziona nella HOME page un corso tra quelli a cui è iscritto mediante una lista ordinata in modo alfabetico decrescente e poi una data d’appello del corso scelto selezionata da un elenco ordinato per data decrescente."/>
          <p:cNvSpPr txBox="1"/>
          <p:nvPr>
            <p:ph type="body" idx="1"/>
          </p:nvPr>
        </p:nvSpPr>
        <p:spPr>
          <a:xfrm>
            <a:off x="1206500" y="3162583"/>
            <a:ext cx="21971000" cy="926849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just" defTabSz="457200">
              <a:lnSpc>
                <a:spcPct val="110000"/>
              </a:lnSpc>
              <a:spcBef>
                <a:spcPts val="1200"/>
              </a:spcBef>
              <a:defRPr b="0" sz="3300">
                <a:solidFill>
                  <a:srgbClr val="0076BA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Lo studente accede tramite login</a:t>
            </a:r>
            <a:r>
              <a:rPr>
                <a:solidFill>
                  <a:srgbClr val="000000"/>
                </a:solidFill>
              </a:rPr>
              <a:t> e </a:t>
            </a:r>
            <a:r>
              <a:t>seleziona</a:t>
            </a:r>
            <a:r>
              <a:rPr>
                <a:solidFill>
                  <a:srgbClr val="000000"/>
                </a:solidFill>
              </a:rPr>
              <a:t> nella </a:t>
            </a:r>
            <a:r>
              <a:rPr>
                <a:solidFill>
                  <a:srgbClr val="EE230C"/>
                </a:solidFill>
              </a:rPr>
              <a:t>HOME</a:t>
            </a:r>
            <a:r>
              <a:rPr>
                <a:solidFill>
                  <a:srgbClr val="000000"/>
                </a:solidFill>
              </a:rPr>
              <a:t> page un corso tra quelli a cui è iscritto mediante una </a:t>
            </a:r>
            <a:r>
              <a:rPr>
                <a:solidFill>
                  <a:srgbClr val="1EB001"/>
                </a:solidFill>
              </a:rPr>
              <a:t>lista ordinata</a:t>
            </a:r>
            <a:r>
              <a:rPr>
                <a:solidFill>
                  <a:srgbClr val="000000"/>
                </a:solidFill>
              </a:rPr>
              <a:t> in modo alfabetico decrescente e poi una </a:t>
            </a:r>
            <a:r>
              <a:rPr>
                <a:solidFill>
                  <a:srgbClr val="1EB001"/>
                </a:solidFill>
              </a:rPr>
              <a:t>data d’appello del corso scelto</a:t>
            </a:r>
            <a:r>
              <a:rPr>
                <a:solidFill>
                  <a:srgbClr val="000000"/>
                </a:solidFill>
              </a:rPr>
              <a:t> selezionata da un elenco ordinato per data decrescente. Uno studente può essere iscritto a più appelli dello stesso corso. </a:t>
            </a:r>
            <a:r>
              <a:t>La selezione della data d’appello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F27100"/>
                </a:solidFill>
              </a:rPr>
              <a:t>porta</a:t>
            </a:r>
            <a:r>
              <a:rPr>
                <a:solidFill>
                  <a:srgbClr val="000000"/>
                </a:solidFill>
              </a:rPr>
              <a:t> a una pagina </a:t>
            </a:r>
            <a:r>
              <a:rPr>
                <a:solidFill>
                  <a:srgbClr val="EE230C"/>
                </a:solidFill>
              </a:rPr>
              <a:t>ESITO</a:t>
            </a:r>
            <a:r>
              <a:rPr>
                <a:solidFill>
                  <a:srgbClr val="000000"/>
                </a:solidFill>
              </a:rPr>
              <a:t> che mostra il messaggio “Voto non ancora definito” se il docente non ha ancora pubblicato il risultato per quello studente in quell’appello. Altrimenti, la pagina mostra i </a:t>
            </a:r>
            <a:r>
              <a:rPr>
                <a:solidFill>
                  <a:srgbClr val="1EB001"/>
                </a:solidFill>
              </a:rPr>
              <a:t>dati dello studente</a:t>
            </a:r>
            <a:r>
              <a:rPr>
                <a:solidFill>
                  <a:srgbClr val="000000"/>
                </a:solidFill>
              </a:rPr>
              <a:t>,</a:t>
            </a:r>
            <a:r>
              <a:rPr>
                <a:solidFill>
                  <a:srgbClr val="1EB001"/>
                </a:solidFill>
              </a:rPr>
              <a:t> del corso</a:t>
            </a:r>
            <a:r>
              <a:rPr>
                <a:solidFill>
                  <a:srgbClr val="000000"/>
                </a:solidFill>
              </a:rPr>
              <a:t>,</a:t>
            </a:r>
            <a:r>
              <a:rPr>
                <a:solidFill>
                  <a:srgbClr val="1EB001"/>
                </a:solidFill>
              </a:rPr>
              <a:t> dell’appello e il voto assegnato</a:t>
            </a:r>
            <a:r>
              <a:rPr>
                <a:solidFill>
                  <a:srgbClr val="000000"/>
                </a:solidFill>
              </a:rPr>
              <a:t>. Se il voto è tra 18 e 30 e lode compare un </a:t>
            </a:r>
            <a:r>
              <a:rPr>
                <a:solidFill>
                  <a:srgbClr val="1EB001"/>
                </a:solidFill>
              </a:rPr>
              <a:t>bottone “RIFIUTA”</a:t>
            </a:r>
            <a:r>
              <a:rPr>
                <a:solidFill>
                  <a:srgbClr val="000000"/>
                </a:solidFill>
              </a:rPr>
              <a:t>. </a:t>
            </a:r>
            <a:r>
              <a:t>Premendo tale bottone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F27100"/>
                </a:solidFill>
              </a:rPr>
              <a:t>la pagina mostra gli stessi dati con la dizione aggiunta “Il voto è stato rifiutato” e senza il bottone RIFIUTA</a:t>
            </a:r>
            <a:r>
              <a:rPr>
                <a:solidFill>
                  <a:srgbClr val="000000"/>
                </a:solidFill>
              </a:rPr>
              <a:t>. </a:t>
            </a:r>
            <a:r>
              <a:rPr>
                <a:solidFill>
                  <a:srgbClr val="F27100"/>
                </a:solidFill>
              </a:rPr>
              <a:t>Il rifiuto del voto cambia lo stato di valutazione a “rifiutato”</a:t>
            </a:r>
            <a:r>
              <a:rPr>
                <a:solidFill>
                  <a:srgbClr val="000000"/>
                </a:solidFill>
              </a:rPr>
              <a:t> della riga dello studente per quell’appello nella pagina ISCRITTI del docente. Nella pagina ISCRITTI del docente la tabella degli iscritti è associata anche a un </a:t>
            </a:r>
            <a:r>
              <a:rPr>
                <a:solidFill>
                  <a:srgbClr val="1EB001"/>
                </a:solidFill>
              </a:rPr>
              <a:t>bottone “VERBALIZZA”</a:t>
            </a:r>
            <a:r>
              <a:rPr>
                <a:solidFill>
                  <a:srgbClr val="000000"/>
                </a:solidFill>
              </a:rPr>
              <a:t>. </a:t>
            </a:r>
            <a:r>
              <a:t>La pressione del bottone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F27100"/>
                </a:solidFill>
              </a:rPr>
              <a:t>provoca il cambio di stato a “verbalizzato”</a:t>
            </a:r>
            <a:r>
              <a:rPr>
                <a:solidFill>
                  <a:srgbClr val="000000"/>
                </a:solidFill>
              </a:rPr>
              <a:t> per le righe nello stato “pubblicato” o "rifiutato" e </a:t>
            </a:r>
            <a:r>
              <a:rPr>
                <a:solidFill>
                  <a:srgbClr val="F27100"/>
                </a:solidFill>
              </a:rPr>
              <a:t>comporta anche la creazione di un verbale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F27100"/>
                </a:solidFill>
              </a:rPr>
              <a:t>e la disabilitazione della possibilità di rifiutare il voto</a:t>
            </a:r>
            <a:r>
              <a:rPr>
                <a:solidFill>
                  <a:srgbClr val="000000"/>
                </a:solidFill>
              </a:rPr>
              <a:t>. Il rifiuto implica la verbalizzazione di “rimandato” come voto. Un verbale ha un codice generato dal sistema, una data e ora di creazione ed è associato all’appello del corso a cui si riferisce e agli studenti (con nome, cognome, matricola e voto) che passano allo stato “verbalizzato”. A seguito della </a:t>
            </a:r>
            <a:r>
              <a:t>pressione del bottone</a:t>
            </a:r>
            <a:r>
              <a:rPr>
                <a:solidFill>
                  <a:srgbClr val="000000"/>
                </a:solidFill>
              </a:rPr>
              <a:t> VERBALIZZA </a:t>
            </a:r>
            <a:r>
              <a:rPr>
                <a:solidFill>
                  <a:srgbClr val="F27100"/>
                </a:solidFill>
              </a:rPr>
              <a:t>compare una pagina VERBALE</a:t>
            </a:r>
            <a:r>
              <a:rPr>
                <a:solidFill>
                  <a:srgbClr val="000000"/>
                </a:solidFill>
              </a:rPr>
              <a:t> che mostra i </a:t>
            </a:r>
            <a:r>
              <a:rPr>
                <a:solidFill>
                  <a:srgbClr val="1EB001"/>
                </a:solidFill>
              </a:rPr>
              <a:t>dati completi del verbale creato</a:t>
            </a:r>
            <a:r>
              <a:rPr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81" name="Pages - View components - Events - Actions"/>
          <p:cNvSpPr txBox="1"/>
          <p:nvPr/>
        </p:nvSpPr>
        <p:spPr>
          <a:xfrm>
            <a:off x="1206500" y="2355185"/>
            <a:ext cx="21971000" cy="934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l" defTabSz="825500">
              <a:defRPr b="1" sz="4800">
                <a:solidFill>
                  <a:srgbClr val="EE230C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Pages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1EB001"/>
                </a:solidFill>
              </a:rPr>
              <a:t>View components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0076BA"/>
                </a:solidFill>
              </a:rPr>
              <a:t>Events </a:t>
            </a:r>
            <a:r>
              <a:rPr>
                <a:solidFill>
                  <a:srgbClr val="000000"/>
                </a:solidFill>
              </a:rPr>
              <a:t>- </a:t>
            </a:r>
            <a:r>
              <a:rPr>
                <a:solidFill>
                  <a:srgbClr val="F27100"/>
                </a:solidFill>
              </a:rPr>
              <a:t>Actions</a:t>
            </a:r>
          </a:p>
        </p:txBody>
      </p:sp>
      <p:sp>
        <p:nvSpPr>
          <p:cNvPr id="182" name="Slide Number"/>
          <p:cNvSpPr txBox="1"/>
          <p:nvPr>
            <p:ph type="sldNum" sz="quarter" idx="4294967295"/>
          </p:nvPr>
        </p:nvSpPr>
        <p:spPr>
          <a:xfrm>
            <a:off x="12065033" y="13074597"/>
            <a:ext cx="241437" cy="381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onceptual database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Conceptual database model</a:t>
            </a:r>
          </a:p>
        </p:txBody>
      </p:sp>
      <p:pic>
        <p:nvPicPr>
          <p:cNvPr id="185" name="ER diagram.jpeg" descr="ER diagram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92812" y="3061739"/>
            <a:ext cx="14798376" cy="10056990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Logical database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Logical database model</a:t>
            </a:r>
          </a:p>
        </p:txBody>
      </p:sp>
      <p:pic>
        <p:nvPicPr>
          <p:cNvPr id="189" name="Screenshot 2023-06-09 at 12.39.13.png" descr="Screenshot 2023-06-09 at 12.39.1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61910" y="2825064"/>
            <a:ext cx="15076765" cy="10213294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Lauree…"/>
          <p:cNvSpPr txBox="1"/>
          <p:nvPr/>
        </p:nvSpPr>
        <p:spPr>
          <a:xfrm>
            <a:off x="1765942" y="3342842"/>
            <a:ext cx="4214566" cy="8757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Lauree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Insegnamenti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Docenti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Studenti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Scaglioni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Iscrizioni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Appelli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Esiti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Voti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Esami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Verbali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Studenti_verbali</a:t>
            </a:r>
          </a:p>
        </p:txBody>
      </p:sp>
      <p:sp>
        <p:nvSpPr>
          <p:cNvPr id="191" name="Slide Number"/>
          <p:cNvSpPr txBox="1"/>
          <p:nvPr>
            <p:ph type="sldNum" sz="quarter" idx="4294967295"/>
          </p:nvPr>
        </p:nvSpPr>
        <p:spPr>
          <a:xfrm>
            <a:off x="12065050" y="13080998"/>
            <a:ext cx="241402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Behavioural diagram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Behavioural diagrams</a:t>
            </a:r>
          </a:p>
        </p:txBody>
      </p:sp>
      <p:pic>
        <p:nvPicPr>
          <p:cNvPr id="194" name="Screenshot 2023-06-11 at 11.58.46.png" descr="Screenshot 2023-06-11 at 11.58.4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17136" y="2848984"/>
            <a:ext cx="17349729" cy="10284170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Behavioural diagrams - teach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Behavioural diagrams - teacher</a:t>
            </a:r>
          </a:p>
        </p:txBody>
      </p:sp>
      <p:pic>
        <p:nvPicPr>
          <p:cNvPr id="198" name="Screenshot 2023-06-11 at 12.01.56.png" descr="Screenshot 2023-06-11 at 12.01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15369" y="2425700"/>
            <a:ext cx="13353263" cy="11584963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Behavioural diagrams - stud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Behavioural diagrams - student</a:t>
            </a:r>
          </a:p>
        </p:txBody>
      </p:sp>
      <p:pic>
        <p:nvPicPr>
          <p:cNvPr id="202" name="Screenshot 2023-06-11 at 12.03.22.png" descr="Screenshot 2023-06-11 at 12.03.2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46435" y="2626585"/>
            <a:ext cx="14691130" cy="10530304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pecification comple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Specification completion</a:t>
            </a:r>
          </a:p>
        </p:txBody>
      </p:sp>
      <p:sp>
        <p:nvSpPr>
          <p:cNvPr id="206" name="Login page is the same for every user and automatically selects the correct homepage.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800"/>
            </a:pPr>
            <a:r>
              <a:t>Login page is the same for every user and automatically selects the correct homepage.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800"/>
            </a:pPr>
            <a:r>
              <a:t>Every exam session can have more reports.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800"/>
            </a:pPr>
            <a:r>
              <a:t>Teachers are not able to create empty reports: at least one exam has to be reported.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800"/>
            </a:pPr>
            <a:r>
              <a:t>Both teacher and student homepages have “logout” buttons and the remaining pages have “back” buttons</a:t>
            </a:r>
          </a:p>
          <a:p>
            <a:pPr marL="609600" indent="-609600" defTabSz="2438337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800"/>
            </a:pPr>
            <a:r>
              <a:t>Control checks for user authentication are executed during operation.</a:t>
            </a:r>
          </a:p>
        </p:txBody>
      </p:sp>
      <p:sp>
        <p:nvSpPr>
          <p:cNvPr id="207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omponents -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Components - 1</a:t>
            </a:r>
          </a:p>
        </p:txBody>
      </p:sp>
      <p:sp>
        <p:nvSpPr>
          <p:cNvPr id="210" name="Model objects (Beans)…"/>
          <p:cNvSpPr txBox="1"/>
          <p:nvPr>
            <p:ph type="body" sz="quarter" idx="1"/>
          </p:nvPr>
        </p:nvSpPr>
        <p:spPr>
          <a:xfrm>
            <a:off x="1161966" y="4339090"/>
            <a:ext cx="6159107" cy="7686214"/>
          </a:xfrm>
          <a:prstGeom prst="rect">
            <a:avLst/>
          </a:prstGeom>
        </p:spPr>
        <p:txBody>
          <a:bodyPr lIns="45699" tIns="45699" rIns="45699" bIns="45699"/>
          <a:lstStyle/>
          <a:p>
            <a:pPr defTabSz="914400">
              <a:defRPr sz="4200">
                <a:latin typeface="+mn-lt"/>
                <a:ea typeface="+mn-ea"/>
                <a:cs typeface="+mn-cs"/>
                <a:sym typeface="Helvetica"/>
              </a:defRPr>
            </a:pPr>
            <a:r>
              <a:t>Model objects (Beans)</a:t>
            </a:r>
          </a:p>
          <a:p>
            <a:pPr lvl="1" marL="1143000" indent="-533400" defTabSz="914400">
              <a:spcBef>
                <a:spcPts val="300"/>
              </a:spcBef>
              <a:defRPr b="0" sz="4200">
                <a:latin typeface="+mn-lt"/>
                <a:ea typeface="+mn-ea"/>
                <a:cs typeface="+mn-cs"/>
                <a:sym typeface="Helvetica"/>
              </a:defRPr>
            </a:pPr>
            <a:r>
              <a:t>Appello</a:t>
            </a:r>
          </a:p>
          <a:p>
            <a:pPr lvl="1" marL="1143000" indent="-533400" defTabSz="914400">
              <a:spcBef>
                <a:spcPts val="300"/>
              </a:spcBef>
              <a:defRPr b="0" sz="4200">
                <a:latin typeface="+mn-lt"/>
                <a:ea typeface="+mn-ea"/>
                <a:cs typeface="+mn-cs"/>
                <a:sym typeface="Helvetica"/>
              </a:defRPr>
            </a:pPr>
            <a:r>
              <a:t>Docente</a:t>
            </a:r>
          </a:p>
          <a:p>
            <a:pPr lvl="1" marL="1143000" indent="-533400" defTabSz="914400">
              <a:spcBef>
                <a:spcPts val="300"/>
              </a:spcBef>
              <a:defRPr b="0" sz="4200">
                <a:latin typeface="+mn-lt"/>
                <a:ea typeface="+mn-ea"/>
                <a:cs typeface="+mn-cs"/>
                <a:sym typeface="Helvetica"/>
              </a:defRPr>
            </a:pPr>
            <a:r>
              <a:t>Esame</a:t>
            </a:r>
          </a:p>
          <a:p>
            <a:pPr lvl="1" marL="1143000" indent="-533400" defTabSz="914400">
              <a:spcBef>
                <a:spcPts val="300"/>
              </a:spcBef>
              <a:defRPr b="0" sz="4200">
                <a:latin typeface="+mn-lt"/>
                <a:ea typeface="+mn-ea"/>
                <a:cs typeface="+mn-cs"/>
                <a:sym typeface="Helvetica"/>
              </a:defRPr>
            </a:pPr>
            <a:r>
              <a:t>Iscritto</a:t>
            </a:r>
          </a:p>
          <a:p>
            <a:pPr lvl="1" marL="1143000" indent="-533400" defTabSz="914400">
              <a:spcBef>
                <a:spcPts val="300"/>
              </a:spcBef>
              <a:defRPr b="0" sz="4200">
                <a:latin typeface="+mn-lt"/>
                <a:ea typeface="+mn-ea"/>
                <a:cs typeface="+mn-cs"/>
                <a:sym typeface="Helvetica"/>
              </a:defRPr>
            </a:pPr>
            <a:r>
              <a:t>Laurea</a:t>
            </a:r>
          </a:p>
          <a:p>
            <a:pPr lvl="1" marL="1143000" indent="-533400" defTabSz="914400">
              <a:spcBef>
                <a:spcPts val="300"/>
              </a:spcBef>
              <a:defRPr b="0" sz="4200">
                <a:latin typeface="+mn-lt"/>
                <a:ea typeface="+mn-ea"/>
                <a:cs typeface="+mn-cs"/>
                <a:sym typeface="Helvetica"/>
              </a:defRPr>
            </a:pPr>
            <a:r>
              <a:t>Scaglione</a:t>
            </a:r>
          </a:p>
          <a:p>
            <a:pPr lvl="1" marL="1143000" indent="-533400" defTabSz="914400">
              <a:spcBef>
                <a:spcPts val="300"/>
              </a:spcBef>
              <a:defRPr b="0" sz="4200">
                <a:latin typeface="+mn-lt"/>
                <a:ea typeface="+mn-ea"/>
                <a:cs typeface="+mn-cs"/>
                <a:sym typeface="Helvetica"/>
              </a:defRPr>
            </a:pPr>
            <a:r>
              <a:t>Studente</a:t>
            </a:r>
          </a:p>
          <a:p>
            <a:pPr lvl="1" marL="1143000" indent="-533400" defTabSz="914400">
              <a:spcBef>
                <a:spcPts val="300"/>
              </a:spcBef>
              <a:defRPr b="0" sz="4200">
                <a:latin typeface="+mn-lt"/>
                <a:ea typeface="+mn-ea"/>
                <a:cs typeface="+mn-cs"/>
                <a:sym typeface="Helvetica"/>
              </a:defRPr>
            </a:pPr>
            <a:r>
              <a:t>Verbale</a:t>
            </a:r>
          </a:p>
        </p:txBody>
      </p:sp>
      <p:sp>
        <p:nvSpPr>
          <p:cNvPr id="211" name="Data Access Objects (Classes)…"/>
          <p:cNvSpPr txBox="1"/>
          <p:nvPr/>
        </p:nvSpPr>
        <p:spPr>
          <a:xfrm>
            <a:off x="8471279" y="3156116"/>
            <a:ext cx="11698685" cy="863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914400">
              <a:spcBef>
                <a:spcPts val="300"/>
              </a:spcBef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Data Access Objects (Classes)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AppelloDAO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getAppelliByScaglione(id_scaglione)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getAppelliByStudenteScaglione(matricola, idScaglione)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getAppelloById(id)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appelloBelongsToTeacher(id_appello, docente)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DocenteDAO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getDocenteByMatricola(matricola)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loginDocente(matricola, password)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getScaglioni(matricola)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getDefaultScaglione(matricola)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IscrizioniDAO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isStudenteInScaglione(idScaglione, studente)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LaureaDAO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getLaurea(id)</a:t>
            </a:r>
          </a:p>
        </p:txBody>
      </p:sp>
      <p:sp>
        <p:nvSpPr>
          <p:cNvPr id="212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omponents -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Components - 2</a:t>
            </a:r>
          </a:p>
        </p:txBody>
      </p:sp>
      <p:sp>
        <p:nvSpPr>
          <p:cNvPr id="215" name="Data Access Objects (Classes)…"/>
          <p:cNvSpPr txBox="1"/>
          <p:nvPr/>
        </p:nvSpPr>
        <p:spPr>
          <a:xfrm>
            <a:off x="769822" y="3186730"/>
            <a:ext cx="11292086" cy="922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914400">
              <a:spcBef>
                <a:spcPts val="300"/>
              </a:spcBef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Data Access Objects (Classes)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EsameDAO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getEsame(matricola_studente, id_appello)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getEsamePubblicato(matricola_studente, id_appello)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getEsamiByAppello(id_appello)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getEsamiNonInseritiByAppello(id_appello)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getEsamiByIdVerbale(id_verbale)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rifiuta(idAppello, matricola)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changeGrade(idAppello, matricola, voto)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pubblica(idAppello)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verbalizza(idAppello)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adjustRifiutatiGrade(idAppelo)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gradePublished(idAppello matricola)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studentBelongsToAppello(idAppello, studente)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gradeCanBeRefused(idAppello, studente)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isGradeValid(grade)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getMatricoleWithStatePubblicato(id_appello)</a:t>
            </a:r>
          </a:p>
        </p:txBody>
      </p:sp>
      <p:sp>
        <p:nvSpPr>
          <p:cNvPr id="216" name="ScaglioneDAO…"/>
          <p:cNvSpPr txBox="1"/>
          <p:nvPr/>
        </p:nvSpPr>
        <p:spPr>
          <a:xfrm>
            <a:off x="12223887" y="2171698"/>
            <a:ext cx="12379754" cy="937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ScaglioneDAO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getScaglioneById(id)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getScaglioniByMatricolaDocente(matricola)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scaglioneBelongsToTeacher(id_scaglione, docente)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StudenteDAO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getStudente(matricola)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getCourseEnrollment(matricolaStudente)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getExams(matricolaStudente, idScaglione)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loginStudente(matricola, password)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getVotiStudentiFromId_verbale(id_verbale)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VerbaleDAO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getVerbaliById_appello(id_appello)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getVerbale(id)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createEmptyVerbale(id_appello)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populateStudentiVerbale(verbale)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verbaleBelongsToTeacher(idVerbale, docente)</a:t>
            </a:r>
          </a:p>
        </p:txBody>
      </p:sp>
      <p:sp>
        <p:nvSpPr>
          <p:cNvPr id="217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omponents - 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Components - 3</a:t>
            </a:r>
          </a:p>
        </p:txBody>
      </p:sp>
      <p:sp>
        <p:nvSpPr>
          <p:cNvPr id="220" name="Google Shape;267;p36"/>
          <p:cNvSpPr txBox="1"/>
          <p:nvPr/>
        </p:nvSpPr>
        <p:spPr>
          <a:xfrm>
            <a:off x="1102474" y="3765293"/>
            <a:ext cx="5769022" cy="2839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 algn="l" defTabSz="914400">
              <a:lnSpc>
                <a:spcPct val="80000"/>
              </a:lnSpc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Controllers (servlets)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EE230C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CheckLogin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Logout</a:t>
            </a:r>
          </a:p>
        </p:txBody>
      </p:sp>
      <p:sp>
        <p:nvSpPr>
          <p:cNvPr id="221" name="Google Shape;267;p36"/>
          <p:cNvSpPr txBox="1"/>
          <p:nvPr/>
        </p:nvSpPr>
        <p:spPr>
          <a:xfrm>
            <a:off x="8112976" y="3078086"/>
            <a:ext cx="8158048" cy="700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 algn="l" defTabSz="914400">
              <a:lnSpc>
                <a:spcPct val="80000"/>
              </a:lnSpc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Teacher Controllers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AssignGrade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AssignMultGrade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GetAppelliByScaglione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GetDocente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GetEsame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GetEsamiByAppello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GetVerbaliInfoByIdVerbale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GetVerbaliByIdAppello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GoToTeacherHP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Pubblica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Verbalizza</a:t>
            </a:r>
          </a:p>
        </p:txBody>
      </p:sp>
      <p:sp>
        <p:nvSpPr>
          <p:cNvPr id="222" name="Google Shape;267;p36"/>
          <p:cNvSpPr txBox="1"/>
          <p:nvPr/>
        </p:nvSpPr>
        <p:spPr>
          <a:xfrm>
            <a:off x="16901571" y="3083825"/>
            <a:ext cx="5988959" cy="4202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 algn="l" defTabSz="914400">
              <a:lnSpc>
                <a:spcPct val="80000"/>
              </a:lnSpc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Student Controllers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ExamInfo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GetAppelli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GetEsito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GetStudente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GoToStudentHP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Rifiuta</a:t>
            </a:r>
          </a:p>
        </p:txBody>
      </p:sp>
      <p:sp>
        <p:nvSpPr>
          <p:cNvPr id="223" name="Google Shape;267;p36"/>
          <p:cNvSpPr txBox="1"/>
          <p:nvPr/>
        </p:nvSpPr>
        <p:spPr>
          <a:xfrm>
            <a:off x="992505" y="7517903"/>
            <a:ext cx="5988960" cy="4898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 algn="l" defTabSz="914400">
              <a:lnSpc>
                <a:spcPct val="80000"/>
              </a:lnSpc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Views (templates)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index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ErrorPage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HomepageDocente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HomepageStudente</a:t>
            </a:r>
          </a:p>
        </p:txBody>
      </p:sp>
      <p:sp>
        <p:nvSpPr>
          <p:cNvPr id="224" name="Google Shape;267;p36"/>
          <p:cNvSpPr txBox="1"/>
          <p:nvPr/>
        </p:nvSpPr>
        <p:spPr>
          <a:xfrm>
            <a:off x="15947496" y="9185195"/>
            <a:ext cx="7897106" cy="308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 algn="l" defTabSz="914400">
              <a:lnSpc>
                <a:spcPct val="80000"/>
              </a:lnSpc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Script (JavaScript)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HomepageDocenteIIFE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HomepageStudenteIIFE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sort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utils</a:t>
            </a:r>
          </a:p>
        </p:txBody>
      </p:sp>
      <p:sp>
        <p:nvSpPr>
          <p:cNvPr id="225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omponents -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Components - 4</a:t>
            </a:r>
          </a:p>
        </p:txBody>
      </p:sp>
      <p:sp>
        <p:nvSpPr>
          <p:cNvPr id="228" name="Script HomepageDocente.js…"/>
          <p:cNvSpPr txBox="1"/>
          <p:nvPr/>
        </p:nvSpPr>
        <p:spPr>
          <a:xfrm>
            <a:off x="888306" y="4231431"/>
            <a:ext cx="11949356" cy="624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914400">
              <a:spcBef>
                <a:spcPts val="300"/>
              </a:spcBef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Script HomepageDocente.js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PageOrchestator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start()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refresh(id_scaglione)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showEsami(id_appello)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showFormEsame(idAppello, matricolaStudente)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showVerbali(idAppello)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showVerbaleInfo(idVerbale)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showInserimentoMultiplo(idAppello)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Scaglioni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addLinks()</a:t>
            </a:r>
          </a:p>
        </p:txBody>
      </p:sp>
      <p:sp>
        <p:nvSpPr>
          <p:cNvPr id="229" name="Appelli…"/>
          <p:cNvSpPr txBox="1"/>
          <p:nvPr/>
        </p:nvSpPr>
        <p:spPr>
          <a:xfrm>
            <a:off x="12052744" y="1412874"/>
            <a:ext cx="5915622" cy="281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Appelli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reset()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show(scaglioneid)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update(appelliToShow)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showContent(isValid)</a:t>
            </a:r>
          </a:p>
        </p:txBody>
      </p:sp>
      <p:sp>
        <p:nvSpPr>
          <p:cNvPr id="230" name="Esami…"/>
          <p:cNvSpPr txBox="1"/>
          <p:nvPr/>
        </p:nvSpPr>
        <p:spPr>
          <a:xfrm>
            <a:off x="11955836" y="5237545"/>
            <a:ext cx="11088490" cy="698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Esami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reset()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init()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createSortTableLinks()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sortRows(col, comparatorType)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comparator(a, b, type)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createPubblicaBtnEvent()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createVerbalizzaBtnEvent()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createInserimentoPubblicoBtnEvent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show(esamiToShow)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showContent(isValid)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isEsameModifiable(esame)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createEditButton(row, idAppello, matricolaStudente)</a:t>
            </a:r>
          </a:p>
        </p:txBody>
      </p:sp>
      <p:sp>
        <p:nvSpPr>
          <p:cNvPr id="231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omponents - 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Components - 5</a:t>
            </a:r>
          </a:p>
        </p:txBody>
      </p:sp>
      <p:sp>
        <p:nvSpPr>
          <p:cNvPr id="234" name="VerbaleInfo…"/>
          <p:cNvSpPr txBox="1"/>
          <p:nvPr/>
        </p:nvSpPr>
        <p:spPr>
          <a:xfrm>
            <a:off x="13190190" y="3124050"/>
            <a:ext cx="9053910" cy="817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VerbaleInfo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reset()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show(id_verbale)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update(verbaleInfoToShow)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InserimentoMultiplo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reset()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show(idAppello)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update(idAppello, esamiToShow)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init()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createAssegnamentoMultiploBtnEvent()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createCloseModalWindowBtnEvent()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createClickOutsideModalWindowEvent()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addMatricolaToAssign(matricola)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removeMatricolaToAssign(matricola)</a:t>
            </a:r>
          </a:p>
        </p:txBody>
      </p:sp>
      <p:sp>
        <p:nvSpPr>
          <p:cNvPr id="235" name="FormEsame…"/>
          <p:cNvSpPr txBox="1"/>
          <p:nvPr/>
        </p:nvSpPr>
        <p:spPr>
          <a:xfrm>
            <a:off x="2299266" y="5043832"/>
            <a:ext cx="8174039" cy="557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FormEsame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reset()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show(idAppello, matricolaStudente)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update(esame)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init()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createAssegnaVotoBtnEvent()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Verbali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reset()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show(appelloid)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update(verbaliToShow)</a:t>
            </a:r>
          </a:p>
        </p:txBody>
      </p:sp>
      <p:sp>
        <p:nvSpPr>
          <p:cNvPr id="236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Components - 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Components - 6</a:t>
            </a:r>
          </a:p>
        </p:txBody>
      </p:sp>
      <p:sp>
        <p:nvSpPr>
          <p:cNvPr id="239" name="Script HomepageStudente.js…"/>
          <p:cNvSpPr txBox="1"/>
          <p:nvPr/>
        </p:nvSpPr>
        <p:spPr>
          <a:xfrm>
            <a:off x="1322871" y="5296975"/>
            <a:ext cx="8473486" cy="416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914400">
              <a:spcBef>
                <a:spcPts val="300"/>
              </a:spcBef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Script HomepageStudente.js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PageOrchestator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start()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updateScaglione(id_scaglione)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updateAppello(id_appello)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Scaglioni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addLinks()</a:t>
            </a:r>
          </a:p>
        </p:txBody>
      </p:sp>
      <p:sp>
        <p:nvSpPr>
          <p:cNvPr id="240" name="Appelli…"/>
          <p:cNvSpPr txBox="1"/>
          <p:nvPr/>
        </p:nvSpPr>
        <p:spPr>
          <a:xfrm>
            <a:off x="12052744" y="1152524"/>
            <a:ext cx="5847161" cy="334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Appelli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show(scaglioneid)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reset()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update(appelliArray)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createTd(row, date, id)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showError()</a:t>
            </a:r>
          </a:p>
        </p:txBody>
      </p:sp>
      <p:sp>
        <p:nvSpPr>
          <p:cNvPr id="241" name="Esito…"/>
          <p:cNvSpPr txBox="1"/>
          <p:nvPr/>
        </p:nvSpPr>
        <p:spPr>
          <a:xfrm>
            <a:off x="11955836" y="6799646"/>
            <a:ext cx="6410723" cy="386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Esito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show(idAppello)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showError(errorMessage)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reset()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rifiutaAction(event)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update(esito)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createTd(row, content)</a:t>
            </a:r>
          </a:p>
        </p:txBody>
      </p:sp>
      <p:sp>
        <p:nvSpPr>
          <p:cNvPr id="242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omponents - 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Components - 7</a:t>
            </a:r>
          </a:p>
        </p:txBody>
      </p:sp>
      <p:sp>
        <p:nvSpPr>
          <p:cNvPr id="245" name="Script utils.js…"/>
          <p:cNvSpPr txBox="1"/>
          <p:nvPr/>
        </p:nvSpPr>
        <p:spPr>
          <a:xfrm>
            <a:off x="791734" y="5189025"/>
            <a:ext cx="14573072" cy="438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914400">
              <a:spcBef>
                <a:spcPts val="300"/>
              </a:spcBef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Script utils.js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makeCalls(method, url, formElement, cback, reset)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createTD(row, content)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createLinkTD(row, content, key, showable)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createButtonTD(row, key, showable)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createCheckBoxTD(row, key, actionWhenChecked, actionWhenFreed)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createDetailTR(table, headerName, data)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emptyElementContent(tableBody)</a:t>
            </a:r>
          </a:p>
        </p:txBody>
      </p:sp>
      <p:sp>
        <p:nvSpPr>
          <p:cNvPr id="246" name="Script sort.js…"/>
          <p:cNvSpPr txBox="1"/>
          <p:nvPr/>
        </p:nvSpPr>
        <p:spPr>
          <a:xfrm>
            <a:off x="15259425" y="4414513"/>
            <a:ext cx="7094436" cy="177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914400">
              <a:spcBef>
                <a:spcPts val="300"/>
              </a:spcBef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Script sort.js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getCellValue(tr, idx)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createComparer(idx, asc)</a:t>
            </a:r>
          </a:p>
        </p:txBody>
      </p:sp>
      <p:sp>
        <p:nvSpPr>
          <p:cNvPr id="247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Event mapping"/>
          <p:cNvSpPr txBox="1"/>
          <p:nvPr>
            <p:ph type="title"/>
          </p:nvPr>
        </p:nvSpPr>
        <p:spPr>
          <a:xfrm>
            <a:off x="1206500" y="234509"/>
            <a:ext cx="21971000" cy="1433164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Event mapping</a:t>
            </a:r>
          </a:p>
        </p:txBody>
      </p:sp>
      <p:graphicFrame>
        <p:nvGraphicFramePr>
          <p:cNvPr id="250" name="Table 1"/>
          <p:cNvGraphicFramePr/>
          <p:nvPr/>
        </p:nvGraphicFramePr>
        <p:xfrm>
          <a:off x="77016" y="1658146"/>
          <a:ext cx="24229964" cy="1204225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4038327"/>
                <a:gridCol w="4916677"/>
                <a:gridCol w="3159978"/>
                <a:gridCol w="4038327"/>
                <a:gridCol w="4038327"/>
                <a:gridCol w="4038327"/>
              </a:tblGrid>
              <a:tr h="448057">
                <a:tc gridSpan="3"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900"/>
                        <a:t>Client-side</a:t>
                      </a:r>
                    </a:p>
                  </a:txBody>
                  <a:tcPr marL="50800" marR="50800" marT="50800" marB="50800" anchor="ctr" anchorCtr="0" horzOverflow="overflow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900"/>
                        <a:t>Server-side</a:t>
                      </a:r>
                    </a:p>
                  </a:txBody>
                  <a:tcPr marL="50800" marR="50800" marT="50800" marB="50800" anchor="ctr" anchorCtr="0" horzOverflow="overflow"/>
                </a:tc>
                <a:tc hMerge="1">
                  <a:tcPr/>
                </a:tc>
                <a:tc hMerge="1">
                  <a:tcPr/>
                </a:tc>
              </a:tr>
              <a:tr h="503598">
                <a:tc>
                  <a:txBody>
                    <a:bodyPr/>
                    <a:lstStyle/>
                    <a:p>
                      <a:pPr defTabSz="914400"/>
                      <a:r>
                        <a:rPr sz="2800"/>
                        <a:t>Event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/>
                        <a:t>Action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/>
                        <a:t>Controller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/>
                        <a:t>Event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/>
                        <a:t>Action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/>
                        <a:t>Controller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769993"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index.html —&gt; login form —&gt; submit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Data check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makeCall(…)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POST username, password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Credential check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CheckLogin.java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938237">
                <a:tc>
                  <a:txBody>
                    <a:bodyPr/>
                    <a:lstStyle/>
                    <a:p>
                      <a:pPr defTabSz="914400"/>
                      <a:r>
                        <a:rPr sz="2000"/>
                        <a:t>HP Docente —&gt; load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View’s structure setup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200"/>
                        <a:t>PageOrchestrator.start()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GET session.docente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Retrieve docente data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GetDocente.java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938237"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  <a:r>
                        <a:t>HP Docente —&gt; scaglioni list —&gt;</a:t>
                      </a:r>
                    </a:p>
                    <a:p>
                      <a:pPr defTabSz="914400">
                        <a:defRPr sz="2000"/>
                      </a:pPr>
                      <a:r>
                        <a:t>Seleziona scaglione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Show appelli related to scaglione selected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showAppelli(…)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GET ID scaglione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Retrieve appelli list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GetAppelliByScaglione.java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938237"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  <a:r>
                        <a:t>HP Docente —&gt; appelli list —&gt;</a:t>
                      </a:r>
                    </a:p>
                    <a:p>
                      <a:pPr defTabSz="914400">
                        <a:defRPr sz="2000"/>
                      </a:pPr>
                      <a:r>
                        <a:t>Seleziona appello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Show subscriptions  and verbali related to exam selected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400"/>
                      </a:pPr>
                      <a:r>
                        <a:t>showEsami(…)</a:t>
                      </a:r>
                    </a:p>
                    <a:p>
                      <a:pPr defTabSz="914400">
                        <a:defRPr sz="2400"/>
                      </a:pPr>
                      <a:r>
                        <a:t>showVerbali(…)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GET ID appello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Retrieve subscriptions and verbalis list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2400"/>
                      </a:pPr>
                      <a:r>
                        <a:t>GetEsamiByAppello.java</a:t>
                      </a:r>
                    </a:p>
                    <a:p>
                      <a:pPr defTabSz="914400">
                        <a:defRPr sz="2400"/>
                      </a:pPr>
                      <a:r>
                        <a:t>GetVerbaliByAppello.java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938237"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  <a:r>
                        <a:t>HP Docente —&gt; appelli list —&gt;</a:t>
                      </a:r>
                    </a:p>
                    <a:p>
                      <a:pPr defTabSz="914400">
                        <a:defRPr sz="2000"/>
                      </a:pPr>
                      <a:r>
                        <a:t>Click header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Reorder table rows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sortRows(…)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/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/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/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938237"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  <a:r>
                        <a:t>HP Docente —&gt; appelli list —&gt;</a:t>
                      </a:r>
                    </a:p>
                    <a:p>
                      <a:pPr defTabSz="914400">
                        <a:defRPr sz="2000"/>
                      </a:pPr>
                      <a:r>
                        <a:t>Modifica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Show form esame component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showFormEsame(…)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POST ID appello, matr. stud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Retrieve exam info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GetEsame.java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938237"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  <a:r>
                        <a:t>HP Docente —&gt; form esame —&gt;</a:t>
                      </a:r>
                    </a:p>
                    <a:p>
                      <a:pPr defTabSz="914400">
                        <a:defRPr sz="2000"/>
                      </a:pPr>
                      <a:r>
                        <a:t>submit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Modify selected exam grade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showAppelli(…)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POST (new grade)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DB data entry following new grade entry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AssignGrade.java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938237"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  <a:r>
                        <a:t>HP Docente —&gt; appelli list —&gt;</a:t>
                      </a:r>
                    </a:p>
                    <a:p>
                      <a:pPr defTabSz="914400">
                        <a:defRPr sz="2000"/>
                      </a:pPr>
                      <a:r>
                        <a:t>Verbalizza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Verbalize grades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showAppelli(…)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POST ID appello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DB data entry following verbalization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Verbalizza.java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938237"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  <a:r>
                        <a:t>HP Docente —&gt; appelli list —&gt;</a:t>
                      </a:r>
                    </a:p>
                    <a:p>
                      <a:pPr defTabSz="914400">
                        <a:defRPr sz="2000"/>
                      </a:pPr>
                      <a:r>
                        <a:t>Pubblica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Publish grades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showAppelli(…)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POST ID appello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DB data entry following publication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Pubblica.java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938237"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  <a:r>
                        <a:t>HP Docente —&gt; appelli list —&gt;</a:t>
                      </a:r>
                    </a:p>
                    <a:p>
                      <a:pPr defTabSz="914400">
                        <a:defRPr sz="2000"/>
                      </a:pPr>
                      <a:r>
                        <a:t>Ins. multiplo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Show multiple grade entry panel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showInserimentoMultiplo(…)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GET ID appello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Retrieve exams with state = “Non inserito”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GetEsamiByAppello.java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938237"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  <a:r>
                        <a:t>HP Docente —&gt; verbali list—&gt;</a:t>
                      </a:r>
                    </a:p>
                    <a:p>
                      <a:pPr defTabSz="914400">
                        <a:defRPr sz="2000"/>
                      </a:pPr>
                      <a:r>
                        <a:t>select verbale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Show selected verbale data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showVerbaleInfo(…)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GET ID verbale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Retrieve selected verbale data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100"/>
                        <a:t>GetVerbaleInfoByIdVerbale.java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938237">
                <a:tc>
                  <a:txBody>
                    <a:bodyPr/>
                    <a:lstStyle/>
                    <a:p>
                      <a:pPr defTabSz="914400">
                        <a:defRPr sz="2000"/>
                      </a:pPr>
                      <a:r>
                        <a:t>HP Docente —&gt; ins. mult. panel—&gt;</a:t>
                      </a:r>
                    </a:p>
                    <a:p>
                      <a:pPr defTabSz="914400">
                        <a:defRPr sz="2000"/>
                      </a:pPr>
                      <a:r>
                        <a:t>Submit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Assigned multiple unassigned  grades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showAppelli(…)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POST (new grades)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DB data entry following multiple grade entry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400"/>
                        <a:t>AssignMultGrade.java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Logi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Login</a:t>
            </a:r>
          </a:p>
        </p:txBody>
      </p:sp>
      <p:pic>
        <p:nvPicPr>
          <p:cNvPr id="253" name="Login.png" descr="Logi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09487" y="2947441"/>
            <a:ext cx="18965025" cy="9906436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Logi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999437">
              <a:defRPr spc="-164" sz="6232"/>
            </a:pPr>
            <a:r>
              <a:t>Assign Grade</a:t>
            </a:r>
            <a:br/>
            <a:r>
              <a:rPr b="0" sz="3607">
                <a:latin typeface="Helvetica Neue Medium"/>
                <a:ea typeface="Helvetica Neue Medium"/>
                <a:cs typeface="Helvetica Neue Medium"/>
                <a:sym typeface="Helvetica Neue Medium"/>
              </a:rPr>
              <a:t>docente</a:t>
            </a:r>
          </a:p>
        </p:txBody>
      </p:sp>
      <p:pic>
        <p:nvPicPr>
          <p:cNvPr id="257" name="Login.png" descr="Logi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11680" y="2947441"/>
            <a:ext cx="14560640" cy="9906436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Logi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999437">
              <a:defRPr spc="-164" sz="6232"/>
            </a:pPr>
            <a:r>
              <a:t>Assign Mult Grade</a:t>
            </a:r>
            <a:br/>
            <a:r>
              <a:rPr b="0" sz="3607">
                <a:latin typeface="Helvetica Neue Medium"/>
                <a:ea typeface="Helvetica Neue Medium"/>
                <a:cs typeface="Helvetica Neue Medium"/>
                <a:sym typeface="Helvetica Neue Medium"/>
              </a:rPr>
              <a:t>docente</a:t>
            </a:r>
          </a:p>
        </p:txBody>
      </p:sp>
      <p:pic>
        <p:nvPicPr>
          <p:cNvPr id="261" name="Login.png" descr="Logi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26801" y="2947441"/>
            <a:ext cx="11130399" cy="9906436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Logi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999437">
              <a:defRPr spc="-164" sz="6232"/>
            </a:pPr>
            <a:r>
              <a:t>GetEsamiByAppello</a:t>
            </a:r>
            <a:br/>
            <a:r>
              <a:rPr b="0" sz="3607">
                <a:latin typeface="Helvetica Neue Medium"/>
                <a:ea typeface="Helvetica Neue Medium"/>
                <a:cs typeface="Helvetica Neue Medium"/>
                <a:sym typeface="Helvetica Neue Medium"/>
              </a:rPr>
              <a:t>docente</a:t>
            </a:r>
          </a:p>
        </p:txBody>
      </p:sp>
      <p:pic>
        <p:nvPicPr>
          <p:cNvPr id="265" name="Login.png" descr="Logi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263" y="3576423"/>
            <a:ext cx="13892472" cy="7456988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Logi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999437">
              <a:defRPr spc="-164" sz="6232"/>
            </a:pPr>
            <a:r>
              <a:t>Pubblica</a:t>
            </a:r>
            <a:br/>
            <a:r>
              <a:rPr b="0" sz="3607">
                <a:latin typeface="Helvetica Neue Medium"/>
                <a:ea typeface="Helvetica Neue Medium"/>
                <a:cs typeface="Helvetica Neue Medium"/>
                <a:sym typeface="Helvetica Neue Medium"/>
              </a:rPr>
              <a:t>docente</a:t>
            </a:r>
          </a:p>
        </p:txBody>
      </p:sp>
      <p:pic>
        <p:nvPicPr>
          <p:cNvPr id="269" name="Login.png" descr="Logi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06823" y="3576423"/>
            <a:ext cx="12389351" cy="7456988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Logi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999437">
              <a:defRPr spc="-164" sz="6232"/>
            </a:pPr>
            <a:r>
              <a:t>Verbalizza</a:t>
            </a:r>
            <a:br/>
            <a:r>
              <a:rPr b="0" sz="3607">
                <a:latin typeface="Helvetica Neue Medium"/>
                <a:ea typeface="Helvetica Neue Medium"/>
                <a:cs typeface="Helvetica Neue Medium"/>
                <a:sym typeface="Helvetica Neue Medium"/>
              </a:rPr>
              <a:t>docente</a:t>
            </a:r>
          </a:p>
        </p:txBody>
      </p:sp>
      <p:sp>
        <p:nvSpPr>
          <p:cNvPr id="273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74" name="Verbalizza.png" descr="Verbalizza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57510" y="1650370"/>
            <a:ext cx="11468980" cy="108653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Logi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999437">
              <a:defRPr spc="-164" sz="6232"/>
            </a:pPr>
            <a:r>
              <a:t>GetAppelli</a:t>
            </a:r>
            <a:br/>
            <a:r>
              <a:rPr b="0" sz="3607">
                <a:latin typeface="Helvetica Neue Medium"/>
                <a:ea typeface="Helvetica Neue Medium"/>
                <a:cs typeface="Helvetica Neue Medium"/>
                <a:sym typeface="Helvetica Neue Medium"/>
              </a:rPr>
              <a:t>studente</a:t>
            </a:r>
          </a:p>
        </p:txBody>
      </p:sp>
      <p:pic>
        <p:nvPicPr>
          <p:cNvPr id="277" name="Login.png" descr="Logi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55050" y="3540914"/>
            <a:ext cx="13873899" cy="745079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Logi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999437">
              <a:defRPr spc="-164" sz="6232"/>
            </a:pPr>
            <a:r>
              <a:t>GetEsito</a:t>
            </a:r>
            <a:br/>
            <a:r>
              <a:rPr b="0" sz="3607">
                <a:latin typeface="Helvetica Neue Medium"/>
                <a:ea typeface="Helvetica Neue Medium"/>
                <a:cs typeface="Helvetica Neue Medium"/>
                <a:sym typeface="Helvetica Neue Medium"/>
              </a:rPr>
              <a:t>studente</a:t>
            </a:r>
          </a:p>
        </p:txBody>
      </p:sp>
      <p:pic>
        <p:nvPicPr>
          <p:cNvPr id="281" name="Login.png" descr="Logi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96337" y="2333273"/>
            <a:ext cx="12991325" cy="10347740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Logi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999437">
              <a:defRPr spc="-164" sz="6232"/>
            </a:pPr>
            <a:r>
              <a:t>Rifiuta</a:t>
            </a:r>
            <a:br/>
            <a:r>
              <a:rPr b="0" sz="3607">
                <a:latin typeface="Helvetica Neue Medium"/>
                <a:ea typeface="Helvetica Neue Medium"/>
                <a:cs typeface="Helvetica Neue Medium"/>
                <a:sym typeface="Helvetica Neue Medium"/>
              </a:rPr>
              <a:t>studente</a:t>
            </a:r>
          </a:p>
        </p:txBody>
      </p:sp>
      <p:pic>
        <p:nvPicPr>
          <p:cNvPr id="285" name="Login.png" descr="Logi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6927" y="2333273"/>
            <a:ext cx="11950146" cy="10347740"/>
          </a:xfrm>
          <a:prstGeom prst="rect">
            <a:avLst/>
          </a:prstGeom>
          <a:ln w="12700">
            <a:miter lim="400000"/>
          </a:ln>
        </p:spPr>
      </p:pic>
      <p:sp>
        <p:nvSpPr>
          <p:cNvPr id="286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Logou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Logout</a:t>
            </a:r>
          </a:p>
        </p:txBody>
      </p:sp>
      <p:pic>
        <p:nvPicPr>
          <p:cNvPr id="289" name="Logout.png" descr="Logou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23442" y="3128729"/>
            <a:ext cx="16337116" cy="9117315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Slide Number"/>
          <p:cNvSpPr txBox="1"/>
          <p:nvPr>
            <p:ph type="sldNum" sz="quarter" idx="4294967295"/>
          </p:nvPr>
        </p:nvSpPr>
        <p:spPr>
          <a:xfrm>
            <a:off x="12001499" y="13080998"/>
            <a:ext cx="368504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